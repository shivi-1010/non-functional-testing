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287" r:id="rId3"/>
    <p:sldId id="268" r:id="rId4"/>
    <p:sldId id="269" r:id="rId5"/>
    <p:sldId id="270" r:id="rId6"/>
    <p:sldId id="271" r:id="rId7"/>
    <p:sldId id="272" r:id="rId8"/>
    <p:sldId id="273" r:id="rId9"/>
    <p:sldId id="274" r:id="rId10"/>
    <p:sldId id="275" r:id="rId11"/>
    <p:sldId id="278" r:id="rId12"/>
    <p:sldId id="279" r:id="rId13"/>
    <p:sldId id="277" r:id="rId14"/>
    <p:sldId id="280" r:id="rId15"/>
    <p:sldId id="281" r:id="rId16"/>
    <p:sldId id="282" r:id="rId17"/>
    <p:sldId id="283" r:id="rId18"/>
    <p:sldId id="284" r:id="rId19"/>
    <p:sldId id="288" r:id="rId20"/>
    <p:sldId id="276"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4473C-6A06-D7B8-4488-B3CFF05D4C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2F0176-8C39-D02B-15B4-DE45B6D7C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E500A7-E20A-06D8-AC85-76376005FD06}"/>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5" name="Footer Placeholder 4">
            <a:extLst>
              <a:ext uri="{FF2B5EF4-FFF2-40B4-BE49-F238E27FC236}">
                <a16:creationId xmlns:a16="http://schemas.microsoft.com/office/drawing/2014/main" id="{97C177CA-32EA-5C51-0BAD-22E3342800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DA90C6-0ABF-A6B4-9C3C-AD5CA455096E}"/>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1378081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B7CA-50AD-D4FE-7060-BF65102BB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AB012F-D732-C2B6-B6BA-4185375529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FBBBB-8376-26E9-014B-6895A082D9EA}"/>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5" name="Footer Placeholder 4">
            <a:extLst>
              <a:ext uri="{FF2B5EF4-FFF2-40B4-BE49-F238E27FC236}">
                <a16:creationId xmlns:a16="http://schemas.microsoft.com/office/drawing/2014/main" id="{6E1F729E-A05C-BF64-2E70-E2AD9EECA5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34007E-4E49-5D11-9F4F-235BC63DDE50}"/>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356064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B2FF-AD4F-9CA1-F6C2-E547B91213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0FFBB2-6BCB-13D3-0600-94BA6B0943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9CEE70-6888-E370-F20D-747479194D61}"/>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5" name="Footer Placeholder 4">
            <a:extLst>
              <a:ext uri="{FF2B5EF4-FFF2-40B4-BE49-F238E27FC236}">
                <a16:creationId xmlns:a16="http://schemas.microsoft.com/office/drawing/2014/main" id="{5FD0609B-F83D-6A7D-E62F-B312E7F671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005E5C-47E4-9112-8ACD-236B5E8BF0D8}"/>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176551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8A0E-B6C6-86F5-1400-66BCB51800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C008BF-94B9-5542-E04D-888B7AC795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4F43B1-94F3-195F-F649-241BD98568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DF4336-D795-CCC0-210C-A2AB32C64EED}"/>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6" name="Footer Placeholder 5">
            <a:extLst>
              <a:ext uri="{FF2B5EF4-FFF2-40B4-BE49-F238E27FC236}">
                <a16:creationId xmlns:a16="http://schemas.microsoft.com/office/drawing/2014/main" id="{8FFF470E-3608-FC24-DE81-F9788F37E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54FEBD-04E4-3184-A716-F2FE9A80B0B6}"/>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399827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2EF4-C7DE-87C1-0E52-2D69D66164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EBEADB-B6C0-7911-BAEC-CE2D6BCA66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6C61F5-A78E-86A3-D8B8-F3B22011C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CB5680-FF78-178D-A8CC-7A66D80B00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21D4D0-E2DD-5B8C-700F-1BA767D95F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34520B-CB02-2D63-9DA2-554F1FC4DEB8}"/>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8" name="Footer Placeholder 7">
            <a:extLst>
              <a:ext uri="{FF2B5EF4-FFF2-40B4-BE49-F238E27FC236}">
                <a16:creationId xmlns:a16="http://schemas.microsoft.com/office/drawing/2014/main" id="{83559F79-11B2-6AE0-BAF5-CAAFB8AE05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209C6D-A45E-C0AE-CB13-7C8049E227FE}"/>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2866081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FB5B0-B10E-45FB-4D87-66359C44B6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94BD32-B58E-F3B4-4E53-1FC710DA4083}"/>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4" name="Footer Placeholder 3">
            <a:extLst>
              <a:ext uri="{FF2B5EF4-FFF2-40B4-BE49-F238E27FC236}">
                <a16:creationId xmlns:a16="http://schemas.microsoft.com/office/drawing/2014/main" id="{7CF3D99F-53D3-0B2A-8F27-9BD3434BFA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E12824-9028-A0DC-4209-88FB655C9F0A}"/>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1615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B1FD7F-95C6-686C-4442-E19E48946E05}"/>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3" name="Footer Placeholder 2">
            <a:extLst>
              <a:ext uri="{FF2B5EF4-FFF2-40B4-BE49-F238E27FC236}">
                <a16:creationId xmlns:a16="http://schemas.microsoft.com/office/drawing/2014/main" id="{ACA07433-433C-E7A6-E4B4-5334D5D638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D81D69-C3EE-0C66-9F30-170709E0486C}"/>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2981791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4C47-30AE-A302-2E9A-5DCBCAF4A1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D43D9B-7C45-4F24-F84B-AFAC391D0D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1F2DC7-4B9E-B622-ECE2-8F9DC5EAB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84064-739F-FE66-07A3-949FEACB2B94}"/>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6" name="Footer Placeholder 5">
            <a:extLst>
              <a:ext uri="{FF2B5EF4-FFF2-40B4-BE49-F238E27FC236}">
                <a16:creationId xmlns:a16="http://schemas.microsoft.com/office/drawing/2014/main" id="{C5908BC2-D481-DAE8-E88E-2C648764EE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0CCD45-C9E6-5A76-6FC2-0F1A19F9C7FF}"/>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4046799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B4F0-FA6A-CE3E-FCD2-A247C95D08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FFD845-1506-44D3-A340-5C30C559EA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2F4430-E01E-A304-252F-9074885916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97547-7BD2-0B86-EF91-4FFA474D824F}"/>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6" name="Footer Placeholder 5">
            <a:extLst>
              <a:ext uri="{FF2B5EF4-FFF2-40B4-BE49-F238E27FC236}">
                <a16:creationId xmlns:a16="http://schemas.microsoft.com/office/drawing/2014/main" id="{EBFA803F-270F-2651-1F7D-54614429F0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58D0C-0F5E-117F-012C-E21669106359}"/>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237480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1CFD-8465-2158-B7C6-97B40D3E77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626C92-F8A7-135C-7E34-927A0A892B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9E99D2-E138-BFCA-352D-CC75BC38309C}"/>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5" name="Footer Placeholder 4">
            <a:extLst>
              <a:ext uri="{FF2B5EF4-FFF2-40B4-BE49-F238E27FC236}">
                <a16:creationId xmlns:a16="http://schemas.microsoft.com/office/drawing/2014/main" id="{D29978B0-446E-4C4B-5FE8-FFF7B13F55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89AF7F-EAB8-0BEF-B98F-394D87D4FC2A}"/>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3315797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CC8C94-0D03-D6D4-8BAF-2C69F44E27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C45B1C-BAE7-6679-856B-6DE6F3395F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107968-7724-611B-BC2A-099EFE833472}"/>
              </a:ext>
            </a:extLst>
          </p:cNvPr>
          <p:cNvSpPr>
            <a:spLocks noGrp="1"/>
          </p:cNvSpPr>
          <p:nvPr>
            <p:ph type="dt" sz="half" idx="10"/>
          </p:nvPr>
        </p:nvSpPr>
        <p:spPr/>
        <p:txBody>
          <a:bodyPr/>
          <a:lstStyle/>
          <a:p>
            <a:fld id="{5F79EDBA-5605-4C96-A349-C9BFB11C9DE1}" type="datetimeFigureOut">
              <a:rPr lang="en-US" smtClean="0"/>
              <a:t>4/15/2024</a:t>
            </a:fld>
            <a:endParaRPr lang="en-US"/>
          </a:p>
        </p:txBody>
      </p:sp>
      <p:sp>
        <p:nvSpPr>
          <p:cNvPr id="5" name="Footer Placeholder 4">
            <a:extLst>
              <a:ext uri="{FF2B5EF4-FFF2-40B4-BE49-F238E27FC236}">
                <a16:creationId xmlns:a16="http://schemas.microsoft.com/office/drawing/2014/main" id="{95F434EE-59EB-130C-2EED-04DB52D0E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79709-8456-2695-E126-96E615CEDBF5}"/>
              </a:ext>
            </a:extLst>
          </p:cNvPr>
          <p:cNvSpPr>
            <a:spLocks noGrp="1"/>
          </p:cNvSpPr>
          <p:nvPr>
            <p:ph type="sldNum" sz="quarter" idx="12"/>
          </p:nvPr>
        </p:nvSpPr>
        <p:spPr/>
        <p:txBody>
          <a:bodyPr/>
          <a:lstStyle/>
          <a:p>
            <a:fld id="{3C52DAB2-8ADC-48D3-B35F-C9849B502751}" type="slidenum">
              <a:rPr lang="en-US" smtClean="0"/>
              <a:t>‹#›</a:t>
            </a:fld>
            <a:endParaRPr lang="en-US"/>
          </a:p>
        </p:txBody>
      </p:sp>
    </p:spTree>
    <p:extLst>
      <p:ext uri="{BB962C8B-B14F-4D97-AF65-F5344CB8AC3E}">
        <p14:creationId xmlns:p14="http://schemas.microsoft.com/office/powerpoint/2010/main" val="3671544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509B7-8102-7F31-8626-4C7D078445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E23822-91CB-4F0B-A6A0-3AAE90F16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D5267-6E0C-78F3-A793-4B481FB290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9EDBA-5605-4C96-A349-C9BFB11C9DE1}" type="datetimeFigureOut">
              <a:rPr lang="en-US" smtClean="0"/>
              <a:t>4/15/2024</a:t>
            </a:fld>
            <a:endParaRPr lang="en-US"/>
          </a:p>
        </p:txBody>
      </p:sp>
      <p:sp>
        <p:nvSpPr>
          <p:cNvPr id="5" name="Footer Placeholder 4">
            <a:extLst>
              <a:ext uri="{FF2B5EF4-FFF2-40B4-BE49-F238E27FC236}">
                <a16:creationId xmlns:a16="http://schemas.microsoft.com/office/drawing/2014/main" id="{2EF8E41A-E292-ED7E-C7A3-DA0EFD81A5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FBA340-F720-9C61-879F-B179E91428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52DAB2-8ADC-48D3-B35F-C9849B502751}" type="slidenum">
              <a:rPr lang="en-US" smtClean="0"/>
              <a:t>‹#›</a:t>
            </a:fld>
            <a:endParaRPr lang="en-US"/>
          </a:p>
        </p:txBody>
      </p:sp>
    </p:spTree>
    <p:extLst>
      <p:ext uri="{BB962C8B-B14F-4D97-AF65-F5344CB8AC3E}">
        <p14:creationId xmlns:p14="http://schemas.microsoft.com/office/powerpoint/2010/main" val="2561468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divScorp/Doctor-Appointmen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stackify.com/ultimate-guide-performance-testing-and-software-testing/" TargetMode="External"/><Relationship Id="rId2" Type="http://schemas.openxmlformats.org/officeDocument/2006/relationships/hyperlink" Target="https://www.testinghero.com/single-post/ultimate-guide-to-performance-test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5289754" y="639097"/>
            <a:ext cx="6253317" cy="3686015"/>
          </a:xfrm>
        </p:spPr>
        <p:txBody>
          <a:bodyPr>
            <a:normAutofit/>
          </a:bodyPr>
          <a:lstStyle/>
          <a:p>
            <a:r>
              <a:rPr lang="en-US"/>
              <a:t>SEN 8050 Non-Functional  Testing</a:t>
            </a: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5289753" y="4455621"/>
            <a:ext cx="6269347" cy="1238616"/>
          </a:xfrm>
        </p:spPr>
        <p:txBody>
          <a:bodyPr>
            <a:normAutofit/>
          </a:bodyPr>
          <a:lstStyle/>
          <a:p>
            <a:pPr>
              <a:spcAft>
                <a:spcPts val="600"/>
              </a:spcAft>
            </a:pPr>
            <a:r>
              <a:rPr lang="en-US" dirty="0"/>
              <a:t>Group - 1 </a:t>
            </a:r>
            <a:br>
              <a:rPr lang="en-US" dirty="0"/>
            </a:br>
            <a:br>
              <a:rPr lang="en-US" dirty="0"/>
            </a:br>
            <a:r>
              <a:rPr lang="en-US" dirty="0"/>
              <a:t>Mid-Term Presentation</a:t>
            </a:r>
          </a:p>
        </p:txBody>
      </p:sp>
      <p:pic>
        <p:nvPicPr>
          <p:cNvPr id="23" name="Picture 22" descr="Person sitting at desk">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l="22964" r="22963" b="-1"/>
          <a:stretch/>
        </p:blipFill>
        <p:spPr>
          <a:xfrm>
            <a:off x="-1" y="10"/>
            <a:ext cx="4635315" cy="6857989"/>
          </a:xfrm>
          <a:prstGeom prst="rect">
            <a:avLst/>
          </a:prstGeom>
        </p:spPr>
      </p:pic>
    </p:spTree>
    <p:extLst>
      <p:ext uri="{BB962C8B-B14F-4D97-AF65-F5344CB8AC3E}">
        <p14:creationId xmlns:p14="http://schemas.microsoft.com/office/powerpoint/2010/main" val="164172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0BF6C-814A-7A9F-11BE-A14B8FF1332D}"/>
              </a:ext>
            </a:extLst>
          </p:cNvPr>
          <p:cNvSpPr>
            <a:spLocks noGrp="1"/>
          </p:cNvSpPr>
          <p:nvPr>
            <p:ph type="title"/>
          </p:nvPr>
        </p:nvSpPr>
        <p:spPr/>
        <p:txBody>
          <a:bodyPr/>
          <a:lstStyle/>
          <a:p>
            <a:r>
              <a:rPr lang="en-IN" spc="75" dirty="0"/>
              <a:t>Introduction</a:t>
            </a:r>
            <a:endParaRPr lang="en-IN" dirty="0"/>
          </a:p>
        </p:txBody>
      </p:sp>
      <p:sp>
        <p:nvSpPr>
          <p:cNvPr id="3" name="Content Placeholder 2">
            <a:extLst>
              <a:ext uri="{FF2B5EF4-FFF2-40B4-BE49-F238E27FC236}">
                <a16:creationId xmlns:a16="http://schemas.microsoft.com/office/drawing/2014/main" id="{61E4C4A7-AAAA-CB29-3A4F-FEE2DC7DE6A2}"/>
              </a:ext>
            </a:extLst>
          </p:cNvPr>
          <p:cNvSpPr>
            <a:spLocks noGrp="1"/>
          </p:cNvSpPr>
          <p:nvPr>
            <p:ph idx="1"/>
          </p:nvPr>
        </p:nvSpPr>
        <p:spPr>
          <a:xfrm>
            <a:off x="1371600" y="1791478"/>
            <a:ext cx="9601200" cy="4380722"/>
          </a:xfrm>
        </p:spPr>
        <p:txBody>
          <a:bodyPr>
            <a:normAutofit/>
          </a:bodyPr>
          <a:lstStyle/>
          <a:p>
            <a:r>
              <a:rPr lang="en-US" sz="2000" spc="-30" dirty="0">
                <a:latin typeface="Calibri"/>
                <a:cs typeface="Calibri"/>
              </a:rPr>
              <a:t>This report analyzes the performance tests conducted on the Python project at </a:t>
            </a:r>
            <a:br>
              <a:rPr lang="en-US" sz="2000" spc="-30" dirty="0">
                <a:latin typeface="Calibri"/>
                <a:cs typeface="Calibri"/>
              </a:rPr>
            </a:br>
            <a:r>
              <a:rPr lang="en-US" sz="2000" spc="-30" dirty="0">
                <a:latin typeface="Calibri"/>
                <a:cs typeface="Calibri"/>
                <a:hlinkClick r:id="rId2"/>
              </a:rPr>
              <a:t>https://github.com/divScorp/Doctor-Appointment</a:t>
            </a:r>
            <a:endParaRPr lang="en-US" sz="2000" spc="-30" dirty="0">
              <a:latin typeface="Calibri"/>
              <a:cs typeface="Calibri"/>
            </a:endParaRPr>
          </a:p>
          <a:p>
            <a:r>
              <a:rPr lang="en-US" sz="2000" spc="-30" dirty="0">
                <a:latin typeface="Calibri"/>
                <a:cs typeface="Calibri"/>
              </a:rPr>
              <a:t>Performance testing assures that a software application can withstand the expected load in both normal and peak conditions. </a:t>
            </a:r>
          </a:p>
          <a:p>
            <a:r>
              <a:rPr lang="en-US" sz="2000" spc="-30" dirty="0">
                <a:latin typeface="Calibri"/>
                <a:cs typeface="Calibri"/>
              </a:rPr>
              <a:t>We believe that this testing will highlight potential bottlenecks and areas for improvement, allowing us to provide a seamless user experience even during peak demand.</a:t>
            </a:r>
          </a:p>
          <a:p>
            <a:r>
              <a:rPr lang="en-US" sz="2000" spc="-30" dirty="0">
                <a:latin typeface="Calibri"/>
                <a:cs typeface="Calibri"/>
              </a:rPr>
              <a:t>Testing Approach:</a:t>
            </a:r>
          </a:p>
          <a:p>
            <a:r>
              <a:rPr lang="en-US" sz="2000" spc="-30" dirty="0">
                <a:latin typeface="Calibri"/>
                <a:cs typeface="Calibri"/>
              </a:rPr>
              <a:t>Python scripts utilized for load, stress, and reliability testing.</a:t>
            </a:r>
          </a:p>
          <a:p>
            <a:r>
              <a:rPr lang="en-US" sz="2000" spc="-30" dirty="0">
                <a:latin typeface="Calibri"/>
                <a:cs typeface="Calibri"/>
              </a:rPr>
              <a:t>JMeter employed for capacity, volume, and scalability testing.</a:t>
            </a:r>
            <a:endParaRPr lang="en-IN" sz="2000" spc="-30" dirty="0">
              <a:latin typeface="Calibri"/>
              <a:cs typeface="Calibri"/>
            </a:endParaRPr>
          </a:p>
        </p:txBody>
      </p:sp>
    </p:spTree>
    <p:extLst>
      <p:ext uri="{BB962C8B-B14F-4D97-AF65-F5344CB8AC3E}">
        <p14:creationId xmlns:p14="http://schemas.microsoft.com/office/powerpoint/2010/main" val="1902281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B7C1A-42DE-4A5B-1592-E012870CDB78}"/>
              </a:ext>
            </a:extLst>
          </p:cNvPr>
          <p:cNvSpPr>
            <a:spLocks noGrp="1"/>
          </p:cNvSpPr>
          <p:nvPr>
            <p:ph type="title"/>
          </p:nvPr>
        </p:nvSpPr>
        <p:spPr/>
        <p:txBody>
          <a:bodyPr/>
          <a:lstStyle/>
          <a:p>
            <a:r>
              <a:rPr lang="en-IN" dirty="0"/>
              <a:t>Performance Testing Model</a:t>
            </a:r>
          </a:p>
        </p:txBody>
      </p:sp>
      <p:sp>
        <p:nvSpPr>
          <p:cNvPr id="3" name="Content Placeholder 2">
            <a:extLst>
              <a:ext uri="{FF2B5EF4-FFF2-40B4-BE49-F238E27FC236}">
                <a16:creationId xmlns:a16="http://schemas.microsoft.com/office/drawing/2014/main" id="{C49829F0-8ED3-86A6-CB28-F3CD6362E69E}"/>
              </a:ext>
            </a:extLst>
          </p:cNvPr>
          <p:cNvSpPr>
            <a:spLocks noGrp="1"/>
          </p:cNvSpPr>
          <p:nvPr>
            <p:ph idx="1"/>
          </p:nvPr>
        </p:nvSpPr>
        <p:spPr>
          <a:xfrm>
            <a:off x="1371600" y="1950097"/>
            <a:ext cx="9601200" cy="4222103"/>
          </a:xfrm>
        </p:spPr>
        <p:txBody>
          <a:bodyPr>
            <a:normAutofit/>
          </a:bodyPr>
          <a:lstStyle/>
          <a:p>
            <a:pPr marL="355600" indent="-342900" algn="just">
              <a:lnSpc>
                <a:spcPct val="100000"/>
              </a:lnSpc>
              <a:spcBef>
                <a:spcPts val="130"/>
              </a:spcBef>
              <a:buFont typeface="Arial" panose="020B0604020202020204" pitchFamily="34" charset="0"/>
              <a:buChar char="•"/>
            </a:pPr>
            <a:r>
              <a:rPr lang="en-US" sz="2000" spc="-30" dirty="0">
                <a:latin typeface="Calibri"/>
                <a:cs typeface="Calibri"/>
              </a:rPr>
              <a:t>Load testing: Evaluates the system's reaction to predicted demand patterns.</a:t>
            </a:r>
          </a:p>
          <a:p>
            <a:pPr marL="355600" indent="-342900" algn="just">
              <a:lnSpc>
                <a:spcPct val="100000"/>
              </a:lnSpc>
              <a:spcBef>
                <a:spcPts val="130"/>
              </a:spcBef>
              <a:buFont typeface="Arial" panose="020B0604020202020204" pitchFamily="34" charset="0"/>
              <a:buChar char="•"/>
            </a:pPr>
            <a:r>
              <a:rPr lang="en-US" sz="2000" spc="-30" dirty="0">
                <a:latin typeface="Calibri"/>
                <a:cs typeface="Calibri"/>
              </a:rPr>
              <a:t>Stress testing investigates the system's resilience by increasing loads above typical levels to determine its capacity thresholds.</a:t>
            </a:r>
          </a:p>
          <a:p>
            <a:pPr marL="355600" indent="-342900" algn="just">
              <a:lnSpc>
                <a:spcPct val="100000"/>
              </a:lnSpc>
              <a:spcBef>
                <a:spcPts val="130"/>
              </a:spcBef>
              <a:buFont typeface="Arial" panose="020B0604020202020204" pitchFamily="34" charset="0"/>
              <a:buChar char="•"/>
            </a:pPr>
            <a:r>
              <a:rPr lang="en-US" sz="2000" spc="-30" dirty="0">
                <a:latin typeface="Calibri"/>
                <a:cs typeface="Calibri"/>
              </a:rPr>
              <a:t>Volume Testing: This type of testing looks into how the system handles large amounts of data to determine its scalability and general performance stability.</a:t>
            </a:r>
          </a:p>
          <a:p>
            <a:pPr marL="355600" indent="-342900" algn="just">
              <a:lnSpc>
                <a:spcPct val="100000"/>
              </a:lnSpc>
              <a:spcBef>
                <a:spcPts val="130"/>
              </a:spcBef>
              <a:buFont typeface="Arial" panose="020B0604020202020204" pitchFamily="34" charset="0"/>
              <a:buChar char="•"/>
            </a:pPr>
            <a:r>
              <a:rPr lang="en-US" sz="2000" spc="-30" dirty="0">
                <a:latin typeface="Calibri"/>
                <a:cs typeface="Calibri"/>
              </a:rPr>
              <a:t>Capacity testing measures the system's long-term stability and reliability under regular, extended-use conditions.</a:t>
            </a:r>
          </a:p>
          <a:p>
            <a:pPr marL="355600" indent="-342900" algn="just">
              <a:lnSpc>
                <a:spcPct val="100000"/>
              </a:lnSpc>
              <a:spcBef>
                <a:spcPts val="130"/>
              </a:spcBef>
              <a:buFont typeface="Arial" panose="020B0604020202020204" pitchFamily="34" charset="0"/>
              <a:buChar char="•"/>
            </a:pPr>
            <a:r>
              <a:rPr lang="en-US" sz="2000" spc="-30" dirty="0">
                <a:latin typeface="Calibri"/>
                <a:cs typeface="Calibri"/>
              </a:rPr>
              <a:t>Reliability testing is used to validate a system's or product's consistency and reliability over time under typical settings.</a:t>
            </a:r>
          </a:p>
          <a:p>
            <a:pPr marL="355600" indent="-342900" algn="just">
              <a:lnSpc>
                <a:spcPct val="100000"/>
              </a:lnSpc>
              <a:spcBef>
                <a:spcPts val="130"/>
              </a:spcBef>
              <a:buFont typeface="Arial" panose="020B0604020202020204" pitchFamily="34" charset="0"/>
              <a:buChar char="•"/>
            </a:pPr>
            <a:r>
              <a:rPr lang="en-US" sz="2000" spc="-30" dirty="0">
                <a:latin typeface="Calibri"/>
                <a:cs typeface="Calibri"/>
              </a:rPr>
              <a:t>Scalability testing evaluates the system's ability to manage increasing demands, both from an increasing number of users and increased resource requirements.</a:t>
            </a:r>
          </a:p>
        </p:txBody>
      </p:sp>
    </p:spTree>
    <p:extLst>
      <p:ext uri="{BB962C8B-B14F-4D97-AF65-F5344CB8AC3E}">
        <p14:creationId xmlns:p14="http://schemas.microsoft.com/office/powerpoint/2010/main" val="3431916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7968D6A-FEB6-8116-497D-6FD0AE85BA09}"/>
              </a:ext>
            </a:extLst>
          </p:cNvPr>
          <p:cNvSpPr>
            <a:spLocks noGrp="1"/>
          </p:cNvSpPr>
          <p:nvPr>
            <p:ph type="title"/>
          </p:nvPr>
        </p:nvSpPr>
        <p:spPr>
          <a:xfrm>
            <a:off x="838199" y="537883"/>
            <a:ext cx="4783697" cy="629436"/>
          </a:xfrm>
        </p:spPr>
        <p:txBody>
          <a:bodyPr vert="horz" lIns="91440" tIns="45720" rIns="91440" bIns="45720" rtlCol="0" anchor="b">
            <a:normAutofit fontScale="90000"/>
          </a:bodyPr>
          <a:lstStyle/>
          <a:p>
            <a:r>
              <a:rPr lang="en-US" sz="4000" kern="1200" dirty="0">
                <a:solidFill>
                  <a:schemeClr val="tx1"/>
                </a:solidFill>
                <a:latin typeface="+mj-lt"/>
                <a:ea typeface="+mj-ea"/>
                <a:cs typeface="+mj-cs"/>
              </a:rPr>
              <a:t>Load Testing</a:t>
            </a:r>
          </a:p>
        </p:txBody>
      </p:sp>
      <p:sp>
        <p:nvSpPr>
          <p:cNvPr id="6" name="Text Placeholder 5">
            <a:extLst>
              <a:ext uri="{FF2B5EF4-FFF2-40B4-BE49-F238E27FC236}">
                <a16:creationId xmlns:a16="http://schemas.microsoft.com/office/drawing/2014/main" id="{CAEFB3FF-D856-5920-9A62-F7374B140607}"/>
              </a:ext>
            </a:extLst>
          </p:cNvPr>
          <p:cNvSpPr>
            <a:spLocks noGrp="1"/>
          </p:cNvSpPr>
          <p:nvPr>
            <p:ph type="body" sz="half" idx="2"/>
          </p:nvPr>
        </p:nvSpPr>
        <p:spPr>
          <a:xfrm>
            <a:off x="838199" y="2686323"/>
            <a:ext cx="4783697" cy="3433583"/>
          </a:xfrm>
        </p:spPr>
        <p:txBody>
          <a:bodyPr vert="horz" lIns="91440" tIns="45720" rIns="91440" bIns="45720" rtlCol="0">
            <a:normAutofit/>
          </a:bodyPr>
          <a:lstStyle/>
          <a:p>
            <a:pPr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p:txBody>
      </p:sp>
      <p:pic>
        <p:nvPicPr>
          <p:cNvPr id="13" name="Picture Placeholder 12">
            <a:extLst>
              <a:ext uri="{FF2B5EF4-FFF2-40B4-BE49-F238E27FC236}">
                <a16:creationId xmlns:a16="http://schemas.microsoft.com/office/drawing/2014/main" id="{0668823F-0595-D050-043C-9DCF1976971D}"/>
              </a:ext>
            </a:extLst>
          </p:cNvPr>
          <p:cNvPicPr>
            <a:picLocks noGrp="1" noChangeAspect="1"/>
          </p:cNvPicPr>
          <p:nvPr>
            <p:ph type="pic" idx="1"/>
          </p:nvPr>
        </p:nvPicPr>
        <p:blipFill>
          <a:blip r:embed="rId2"/>
          <a:srcRect t="588" b="588"/>
          <a:stretch/>
        </p:blipFill>
        <p:spPr>
          <a:xfrm>
            <a:off x="6460096" y="870650"/>
            <a:ext cx="5365375" cy="5249256"/>
          </a:xfrm>
          <a:prstGeom prst="rect">
            <a:avLst/>
          </a:prstGeom>
        </p:spPr>
      </p:pic>
      <p:sp>
        <p:nvSpPr>
          <p:cNvPr id="15" name="Text Placeholder 5">
            <a:extLst>
              <a:ext uri="{FF2B5EF4-FFF2-40B4-BE49-F238E27FC236}">
                <a16:creationId xmlns:a16="http://schemas.microsoft.com/office/drawing/2014/main" id="{2E43FF45-310E-2ADF-1DD8-23B50704E070}"/>
              </a:ext>
            </a:extLst>
          </p:cNvPr>
          <p:cNvSpPr txBox="1">
            <a:spLocks/>
          </p:cNvSpPr>
          <p:nvPr/>
        </p:nvSpPr>
        <p:spPr>
          <a:xfrm>
            <a:off x="838199" y="1705202"/>
            <a:ext cx="4353116" cy="3770434"/>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indent="-228600">
              <a:buFont typeface="Arial" panose="020B0604020202020204" pitchFamily="34" charset="0"/>
              <a:buChar char="•"/>
            </a:pPr>
            <a:r>
              <a:rPr lang="en-US" sz="2000" spc="-30" dirty="0">
                <a:latin typeface="Calibri"/>
                <a:cs typeface="Calibri"/>
              </a:rPr>
              <a:t>Mimics real-world user interactions to assess system performance.</a:t>
            </a:r>
          </a:p>
          <a:p>
            <a:pPr indent="-228600">
              <a:buFont typeface="Arial" panose="020B0604020202020204" pitchFamily="34" charset="0"/>
              <a:buChar char="•"/>
            </a:pPr>
            <a:r>
              <a:rPr lang="en-US" sz="2000" spc="-30" dirty="0">
                <a:latin typeface="Calibri"/>
                <a:cs typeface="Calibri"/>
              </a:rPr>
              <a:t> Evaluate the system's ability to handle predicted user traffic volumes.</a:t>
            </a:r>
          </a:p>
          <a:p>
            <a:pPr indent="-228600">
              <a:buFont typeface="Arial" panose="020B0604020202020204" pitchFamily="34" charset="0"/>
              <a:buChar char="•"/>
            </a:pPr>
            <a:r>
              <a:rPr lang="en-US" sz="2000" spc="-30" dirty="0">
                <a:latin typeface="Calibri"/>
                <a:cs typeface="Calibri"/>
              </a:rPr>
              <a:t>The Locust framework is used to load test the Doctor's Appointment application, which is deployed.</a:t>
            </a:r>
          </a:p>
          <a:p>
            <a:pPr indent="-228600">
              <a:buFont typeface="Arial" panose="020B0604020202020204" pitchFamily="34" charset="0"/>
              <a:buChar char="•"/>
            </a:pPr>
            <a:r>
              <a:rPr lang="en-US" sz="2000" spc="-30" dirty="0">
                <a:latin typeface="Calibri"/>
                <a:cs typeface="Calibri"/>
              </a:rPr>
              <a:t>Load testing ensures the system's durability and consistency with predicted user traffic.</a:t>
            </a:r>
          </a:p>
          <a:p>
            <a:pPr indent="-228600">
              <a:buFont typeface="Arial" panose="020B0604020202020204" pitchFamily="34" charset="0"/>
              <a:buChar char="•"/>
            </a:pPr>
            <a:r>
              <a:rPr lang="en-US" sz="2000" spc="-30" dirty="0">
                <a:latin typeface="Calibri"/>
                <a:cs typeface="Calibri"/>
              </a:rPr>
              <a:t>Improves system efficiency by detecting and resolving bottlenecks.</a:t>
            </a:r>
          </a:p>
          <a:p>
            <a:pPr indent="-228600">
              <a:buFont typeface="Arial" panose="020B0604020202020204" pitchFamily="34" charset="0"/>
              <a:buChar char="•"/>
            </a:pPr>
            <a:r>
              <a:rPr lang="en-US" sz="2000" spc="-30" dirty="0">
                <a:latin typeface="Calibri"/>
                <a:cs typeface="Calibri"/>
              </a:rPr>
              <a:t>Confirms the system's capacity to expand in response to increased user demands.</a:t>
            </a:r>
          </a:p>
          <a:p>
            <a:pPr indent="-228600">
              <a:buFont typeface="Arial" panose="020B0604020202020204" pitchFamily="34" charset="0"/>
              <a:buChar char="•"/>
            </a:pPr>
            <a:endParaRPr lang="en-US" sz="1400" dirty="0">
              <a:solidFill>
                <a:srgbClr val="595959"/>
              </a:solidFill>
              <a:highlight>
                <a:srgbClr val="FFFF00"/>
              </a:highlight>
            </a:endParaRPr>
          </a:p>
          <a:p>
            <a:pPr indent="-228600">
              <a:buFont typeface="Arial" panose="020B0604020202020204" pitchFamily="34" charset="0"/>
              <a:buChar char="•"/>
            </a:pPr>
            <a:endParaRPr lang="en-US" sz="1400" dirty="0">
              <a:solidFill>
                <a:srgbClr val="595959"/>
              </a:solidFill>
              <a:highlight>
                <a:srgbClr val="FFFF00"/>
              </a:highlight>
            </a:endParaRPr>
          </a:p>
          <a:p>
            <a:pPr indent="-228600">
              <a:buFont typeface="Arial" panose="020B0604020202020204" pitchFamily="34" charset="0"/>
              <a:buChar char="•"/>
            </a:pPr>
            <a:endParaRPr lang="en-US" sz="1400" dirty="0">
              <a:solidFill>
                <a:srgbClr val="595959"/>
              </a:solidFill>
              <a:highlight>
                <a:srgbClr val="FFFF00"/>
              </a:highlight>
            </a:endParaRPr>
          </a:p>
        </p:txBody>
      </p:sp>
    </p:spTree>
    <p:extLst>
      <p:ext uri="{BB962C8B-B14F-4D97-AF65-F5344CB8AC3E}">
        <p14:creationId xmlns:p14="http://schemas.microsoft.com/office/powerpoint/2010/main" val="509101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6B8D888-75A4-76FB-44A8-335903AF800D}"/>
              </a:ext>
            </a:extLst>
          </p:cNvPr>
          <p:cNvSpPr txBox="1">
            <a:spLocks/>
          </p:cNvSpPr>
          <p:nvPr/>
        </p:nvSpPr>
        <p:spPr>
          <a:xfrm>
            <a:off x="2806835" y="75694"/>
            <a:ext cx="9601200" cy="1485900"/>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IN" dirty="0"/>
              <a:t>Load Testing Result Analysis</a:t>
            </a:r>
          </a:p>
        </p:txBody>
      </p:sp>
      <p:pic>
        <p:nvPicPr>
          <p:cNvPr id="4" name="Picture 3" descr="A screenshot of a computer&#10;&#10;Description automatically generated">
            <a:extLst>
              <a:ext uri="{FF2B5EF4-FFF2-40B4-BE49-F238E27FC236}">
                <a16:creationId xmlns:a16="http://schemas.microsoft.com/office/drawing/2014/main" id="{3632CAA6-B96F-FAAA-3B0C-6692FEF89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34" y="920785"/>
            <a:ext cx="11929532" cy="3371474"/>
          </a:xfrm>
          <a:prstGeom prst="rect">
            <a:avLst/>
          </a:prstGeom>
        </p:spPr>
      </p:pic>
      <p:pic>
        <p:nvPicPr>
          <p:cNvPr id="10" name="Picture 9" descr="A screen shot of a computer&#10;&#10;Description automatically generated">
            <a:extLst>
              <a:ext uri="{FF2B5EF4-FFF2-40B4-BE49-F238E27FC236}">
                <a16:creationId xmlns:a16="http://schemas.microsoft.com/office/drawing/2014/main" id="{CAAE86A6-CB8F-BDDA-703D-E2CB62117318}"/>
              </a:ext>
            </a:extLst>
          </p:cNvPr>
          <p:cNvPicPr>
            <a:picLocks noChangeAspect="1"/>
          </p:cNvPicPr>
          <p:nvPr/>
        </p:nvPicPr>
        <p:blipFill rotWithShape="1">
          <a:blip r:embed="rId3">
            <a:extLst>
              <a:ext uri="{28A0092B-C50C-407E-A947-70E740481C1C}">
                <a14:useLocalDpi xmlns:a14="http://schemas.microsoft.com/office/drawing/2010/main" val="0"/>
              </a:ext>
            </a:extLst>
          </a:blip>
          <a:srcRect l="1197" t="57488"/>
          <a:stretch/>
        </p:blipFill>
        <p:spPr>
          <a:xfrm>
            <a:off x="131234" y="4292259"/>
            <a:ext cx="11929532" cy="2490047"/>
          </a:xfrm>
          <a:prstGeom prst="rect">
            <a:avLst/>
          </a:prstGeom>
        </p:spPr>
      </p:pic>
    </p:spTree>
    <p:extLst>
      <p:ext uri="{BB962C8B-B14F-4D97-AF65-F5344CB8AC3E}">
        <p14:creationId xmlns:p14="http://schemas.microsoft.com/office/powerpoint/2010/main" val="1104036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8600D-DD51-DFA9-B7CC-5CB76D7EF438}"/>
              </a:ext>
            </a:extLst>
          </p:cNvPr>
          <p:cNvSpPr>
            <a:spLocks noGrp="1"/>
          </p:cNvSpPr>
          <p:nvPr>
            <p:ph type="title"/>
          </p:nvPr>
        </p:nvSpPr>
        <p:spPr>
          <a:xfrm>
            <a:off x="1263444" y="115529"/>
            <a:ext cx="10254343" cy="1044677"/>
          </a:xfrm>
        </p:spPr>
        <p:txBody>
          <a:bodyPr/>
          <a:lstStyle/>
          <a:p>
            <a:r>
              <a:rPr lang="en-IN" dirty="0"/>
              <a:t>Load Testing Result Analysis Continued…</a:t>
            </a:r>
          </a:p>
        </p:txBody>
      </p:sp>
      <p:sp>
        <p:nvSpPr>
          <p:cNvPr id="3" name="Content Placeholder 2">
            <a:extLst>
              <a:ext uri="{FF2B5EF4-FFF2-40B4-BE49-F238E27FC236}">
                <a16:creationId xmlns:a16="http://schemas.microsoft.com/office/drawing/2014/main" id="{9154B9EC-FF6C-35C9-31E7-A3328F5042E8}"/>
              </a:ext>
            </a:extLst>
          </p:cNvPr>
          <p:cNvSpPr>
            <a:spLocks noGrp="1"/>
          </p:cNvSpPr>
          <p:nvPr>
            <p:ph idx="1"/>
          </p:nvPr>
        </p:nvSpPr>
        <p:spPr>
          <a:xfrm>
            <a:off x="838200" y="1297858"/>
            <a:ext cx="10515600" cy="5043948"/>
          </a:xfrm>
        </p:spPr>
        <p:txBody>
          <a:bodyPr>
            <a:normAutofit fontScale="92500" lnSpcReduction="10000"/>
          </a:bodyPr>
          <a:lstStyle/>
          <a:p>
            <a:r>
              <a:rPr lang="en-US" dirty="0"/>
              <a:t>Requests per Second:</a:t>
            </a:r>
          </a:p>
          <a:p>
            <a:pPr marL="0" indent="0">
              <a:buNone/>
            </a:pPr>
            <a:r>
              <a:rPr lang="en-US" sz="2400" dirty="0"/>
              <a:t>The number of requests per second reflects the system's current load.  This also demonstrates the system's ability to accommodate increasing user demands.</a:t>
            </a:r>
            <a:br>
              <a:rPr lang="en-US" sz="2400" dirty="0"/>
            </a:br>
            <a:endParaRPr lang="en-US" sz="2400" dirty="0"/>
          </a:p>
          <a:p>
            <a:r>
              <a:rPr lang="en-US" dirty="0"/>
              <a:t>Response Times:</a:t>
            </a:r>
          </a:p>
          <a:p>
            <a:pPr marL="0" indent="0">
              <a:buNone/>
            </a:pPr>
            <a:r>
              <a:rPr lang="en-US" sz="2400" dirty="0"/>
              <a:t>Both average and median response times increase significantly as the number of users grows. There is a direct relationship between user traffic volume and response time. The longest response time remains within acceptable limits, ensuring a consistent user experience even when the system is substantially loaded.</a:t>
            </a:r>
            <a:br>
              <a:rPr lang="en-US" sz="2400" dirty="0"/>
            </a:br>
            <a:endParaRPr lang="en-US" sz="2400" dirty="0"/>
          </a:p>
          <a:p>
            <a:r>
              <a:rPr lang="en-US" dirty="0"/>
              <a:t>User Count:</a:t>
            </a:r>
          </a:p>
          <a:p>
            <a:pPr lvl="1"/>
            <a:r>
              <a:rPr lang="en-US" dirty="0"/>
              <a:t>Expansion from 100 to 200 users, with a consistent introduction rate of 10 per second. indicates the scale of user demand the system was exposed to during the test.</a:t>
            </a:r>
          </a:p>
          <a:p>
            <a:endParaRPr lang="en-IN" dirty="0">
              <a:highlight>
                <a:srgbClr val="FFFF00"/>
              </a:highlight>
            </a:endParaRPr>
          </a:p>
        </p:txBody>
      </p:sp>
    </p:spTree>
    <p:extLst>
      <p:ext uri="{BB962C8B-B14F-4D97-AF65-F5344CB8AC3E}">
        <p14:creationId xmlns:p14="http://schemas.microsoft.com/office/powerpoint/2010/main" val="1604969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34AE7D7-4F70-124C-D5D2-1BFC37A4A8DD}"/>
              </a:ext>
            </a:extLst>
          </p:cNvPr>
          <p:cNvSpPr>
            <a:spLocks noGrp="1"/>
          </p:cNvSpPr>
          <p:nvPr>
            <p:ph type="title"/>
          </p:nvPr>
        </p:nvSpPr>
        <p:spPr>
          <a:xfrm>
            <a:off x="838199" y="537883"/>
            <a:ext cx="4783697" cy="619708"/>
          </a:xfrm>
        </p:spPr>
        <p:txBody>
          <a:bodyPr vert="horz" lIns="91440" tIns="45720" rIns="91440" bIns="45720" rtlCol="0" anchor="b">
            <a:normAutofit fontScale="90000"/>
          </a:bodyPr>
          <a:lstStyle/>
          <a:p>
            <a:r>
              <a:rPr lang="en-US" sz="4000" kern="1200" dirty="0">
                <a:solidFill>
                  <a:schemeClr val="tx1"/>
                </a:solidFill>
                <a:latin typeface="+mj-lt"/>
                <a:ea typeface="+mj-ea"/>
                <a:cs typeface="+mj-cs"/>
              </a:rPr>
              <a:t>Stress Testing</a:t>
            </a:r>
          </a:p>
        </p:txBody>
      </p:sp>
      <p:sp>
        <p:nvSpPr>
          <p:cNvPr id="9" name="Text Placeholder 8">
            <a:extLst>
              <a:ext uri="{FF2B5EF4-FFF2-40B4-BE49-F238E27FC236}">
                <a16:creationId xmlns:a16="http://schemas.microsoft.com/office/drawing/2014/main" id="{EBE633E0-D351-A304-1AC0-467C3BA5B19B}"/>
              </a:ext>
            </a:extLst>
          </p:cNvPr>
          <p:cNvSpPr>
            <a:spLocks noGrp="1"/>
          </p:cNvSpPr>
          <p:nvPr>
            <p:ph type="body" sz="half" idx="2"/>
          </p:nvPr>
        </p:nvSpPr>
        <p:spPr>
          <a:xfrm>
            <a:off x="369575" y="1297858"/>
            <a:ext cx="4783697" cy="5196322"/>
          </a:xfrm>
        </p:spPr>
        <p:txBody>
          <a:bodyPr vert="horz" lIns="91440" tIns="45720" rIns="91440" bIns="45720" rtlCol="0">
            <a:normAutofit/>
          </a:bodyPr>
          <a:lstStyle/>
          <a:p>
            <a:pPr marL="297815" marR="5080" indent="-228600">
              <a:spcBef>
                <a:spcPts val="80"/>
              </a:spcBef>
              <a:buFont typeface="Arial" panose="020B0604020202020204" pitchFamily="34" charset="0"/>
              <a:buChar char="•"/>
              <a:tabLst>
                <a:tab pos="356235" algn="l"/>
              </a:tabLst>
            </a:pPr>
            <a:r>
              <a:rPr lang="en-US" sz="1900" dirty="0">
                <a:latin typeface="Calibri" panose="020F0502020204030204" pitchFamily="34" charset="0"/>
                <a:ea typeface="Calibri" panose="020F0502020204030204" pitchFamily="34" charset="0"/>
                <a:cs typeface="Calibri" panose="020F0502020204030204" pitchFamily="34" charset="0"/>
              </a:rPr>
              <a:t>The Locust framework is used in the Stress Testing code to evaluate system resilience in high-load scenarios.</a:t>
            </a:r>
            <a:br>
              <a:rPr lang="en-US" sz="1900" dirty="0">
                <a:latin typeface="Calibri" panose="020F0502020204030204" pitchFamily="34" charset="0"/>
                <a:ea typeface="Calibri" panose="020F0502020204030204" pitchFamily="34" charset="0"/>
                <a:cs typeface="Calibri" panose="020F0502020204030204" pitchFamily="34" charset="0"/>
              </a:rPr>
            </a:br>
            <a:endParaRPr lang="en-US" sz="1900" dirty="0">
              <a:latin typeface="Calibri" panose="020F0502020204030204" pitchFamily="34" charset="0"/>
              <a:ea typeface="Calibri" panose="020F0502020204030204" pitchFamily="34" charset="0"/>
              <a:cs typeface="Calibri" panose="020F0502020204030204" pitchFamily="34" charset="0"/>
            </a:endParaRPr>
          </a:p>
          <a:p>
            <a:pPr marL="297815" marR="5080" indent="-228600">
              <a:spcBef>
                <a:spcPts val="80"/>
              </a:spcBef>
              <a:buFont typeface="Arial" panose="020B0604020202020204" pitchFamily="34" charset="0"/>
              <a:buChar char="•"/>
              <a:tabLst>
                <a:tab pos="356235" algn="l"/>
              </a:tabLst>
            </a:pPr>
            <a:r>
              <a:rPr lang="en-US" sz="1900" dirty="0">
                <a:latin typeface="Calibri" panose="020F0502020204030204" pitchFamily="34" charset="0"/>
                <a:ea typeface="Calibri" panose="020F0502020204030204" pitchFamily="34" charset="0"/>
                <a:cs typeface="Calibri" panose="020F0502020204030204" pitchFamily="34" charset="0"/>
              </a:rPr>
              <a:t>This technique entails gradually raising the number or intensity of requests until the system approaches a breaking point or experiences severe performance degradation.</a:t>
            </a:r>
            <a:br>
              <a:rPr lang="en-US" sz="1900" dirty="0">
                <a:latin typeface="Calibri" panose="020F0502020204030204" pitchFamily="34" charset="0"/>
                <a:ea typeface="Calibri" panose="020F0502020204030204" pitchFamily="34" charset="0"/>
                <a:cs typeface="Calibri" panose="020F0502020204030204" pitchFamily="34" charset="0"/>
              </a:rPr>
            </a:br>
            <a:endParaRPr lang="en-US" sz="1900" dirty="0">
              <a:latin typeface="Calibri" panose="020F0502020204030204" pitchFamily="34" charset="0"/>
              <a:ea typeface="Calibri" panose="020F0502020204030204" pitchFamily="34" charset="0"/>
              <a:cs typeface="Calibri" panose="020F0502020204030204" pitchFamily="34" charset="0"/>
            </a:endParaRPr>
          </a:p>
          <a:p>
            <a:pPr marL="297815" marR="5080" indent="-228600">
              <a:spcBef>
                <a:spcPts val="80"/>
              </a:spcBef>
              <a:buFont typeface="Arial" panose="020B0604020202020204" pitchFamily="34" charset="0"/>
              <a:buChar char="•"/>
              <a:tabLst>
                <a:tab pos="356235" algn="l"/>
              </a:tabLst>
            </a:pPr>
            <a:r>
              <a:rPr lang="en-US" sz="1900" dirty="0">
                <a:latin typeface="Calibri" panose="020F0502020204030204" pitchFamily="34" charset="0"/>
                <a:ea typeface="Calibri" panose="020F0502020204030204" pitchFamily="34" charset="0"/>
                <a:cs typeface="Calibri" panose="020F0502020204030204" pitchFamily="34" charset="0"/>
              </a:rPr>
              <a:t>The goal is to identify the capacity limits and the types of failures that occur.</a:t>
            </a:r>
          </a:p>
          <a:p>
            <a:pPr marL="297815" marR="5080" indent="-228600">
              <a:spcBef>
                <a:spcPts val="80"/>
              </a:spcBef>
              <a:buFont typeface="Arial" panose="020B0604020202020204" pitchFamily="34" charset="0"/>
              <a:buChar char="•"/>
              <a:tabLst>
                <a:tab pos="356235" algn="l"/>
              </a:tabLst>
            </a:pPr>
            <a:endParaRPr lang="en-US" sz="1900" dirty="0">
              <a:latin typeface="Calibri" panose="020F0502020204030204" pitchFamily="34" charset="0"/>
              <a:ea typeface="Calibri" panose="020F0502020204030204" pitchFamily="34" charset="0"/>
              <a:cs typeface="Calibri" panose="020F0502020204030204" pitchFamily="34" charset="0"/>
            </a:endParaRPr>
          </a:p>
          <a:p>
            <a:pPr marL="297815" marR="5080" indent="-228600">
              <a:spcBef>
                <a:spcPts val="80"/>
              </a:spcBef>
              <a:buFont typeface="Arial" panose="020B0604020202020204" pitchFamily="34" charset="0"/>
              <a:buChar char="•"/>
              <a:tabLst>
                <a:tab pos="356235" algn="l"/>
              </a:tabLst>
            </a:pPr>
            <a:r>
              <a:rPr lang="en-US" sz="1900" dirty="0">
                <a:latin typeface="Calibri" panose="020F0502020204030204" pitchFamily="34" charset="0"/>
                <a:ea typeface="Calibri" panose="020F0502020204030204" pitchFamily="34" charset="0"/>
                <a:cs typeface="Calibri" panose="020F0502020204030204" pitchFamily="34" charset="0"/>
              </a:rPr>
              <a:t>Stress testing with the Locust framework is a key aspect of performance evaluation since it demonstrates the system's reliability under real-world, high-demand conditions.</a:t>
            </a:r>
          </a:p>
          <a:p>
            <a:pPr marL="297815" marR="5080" indent="-228600">
              <a:spcBef>
                <a:spcPts val="80"/>
              </a:spcBef>
              <a:buFont typeface="Arial" panose="020B0604020202020204" pitchFamily="34" charset="0"/>
              <a:buChar char="•"/>
              <a:tabLst>
                <a:tab pos="356235" algn="l"/>
              </a:tabLst>
            </a:pPr>
            <a:endParaRPr lang="en-US" sz="1900" dirty="0">
              <a:latin typeface="Calibri" panose="020F0502020204030204" pitchFamily="34" charset="0"/>
              <a:ea typeface="Calibri" panose="020F0502020204030204" pitchFamily="34" charset="0"/>
              <a:cs typeface="Calibri" panose="020F0502020204030204" pitchFamily="34" charset="0"/>
            </a:endParaRPr>
          </a:p>
          <a:p>
            <a:pPr marL="297815" marR="5080" indent="-228600">
              <a:spcBef>
                <a:spcPts val="80"/>
              </a:spcBef>
              <a:buFont typeface="Arial" panose="020B0604020202020204" pitchFamily="34" charset="0"/>
              <a:buChar char="•"/>
              <a:tabLst>
                <a:tab pos="356235" algn="l"/>
              </a:tabLst>
            </a:pPr>
            <a:endParaRPr lang="en-US" sz="1700" dirty="0"/>
          </a:p>
        </p:txBody>
      </p:sp>
      <p:pic>
        <p:nvPicPr>
          <p:cNvPr id="5" name="Picture 4">
            <a:extLst>
              <a:ext uri="{FF2B5EF4-FFF2-40B4-BE49-F238E27FC236}">
                <a16:creationId xmlns:a16="http://schemas.microsoft.com/office/drawing/2014/main" id="{968EB347-DD64-89CE-B6D2-2A1E90CF4B20}"/>
              </a:ext>
            </a:extLst>
          </p:cNvPr>
          <p:cNvPicPr>
            <a:picLocks noChangeAspect="1"/>
          </p:cNvPicPr>
          <p:nvPr/>
        </p:nvPicPr>
        <p:blipFill>
          <a:blip r:embed="rId2"/>
          <a:stretch>
            <a:fillRect/>
          </a:stretch>
        </p:blipFill>
        <p:spPr>
          <a:xfrm>
            <a:off x="5883642" y="363820"/>
            <a:ext cx="5938783" cy="6130360"/>
          </a:xfrm>
          <a:prstGeom prst="rect">
            <a:avLst/>
          </a:prstGeom>
        </p:spPr>
      </p:pic>
    </p:spTree>
    <p:extLst>
      <p:ext uri="{BB962C8B-B14F-4D97-AF65-F5344CB8AC3E}">
        <p14:creationId xmlns:p14="http://schemas.microsoft.com/office/powerpoint/2010/main" val="3513829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6B8D888-75A4-76FB-44A8-335903AF800D}"/>
              </a:ext>
            </a:extLst>
          </p:cNvPr>
          <p:cNvSpPr txBox="1">
            <a:spLocks/>
          </p:cNvSpPr>
          <p:nvPr/>
        </p:nvSpPr>
        <p:spPr>
          <a:xfrm>
            <a:off x="2476401" y="136187"/>
            <a:ext cx="9601200" cy="1485900"/>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IN" dirty="0"/>
              <a:t>Stress Testing Result Analysis</a:t>
            </a:r>
          </a:p>
        </p:txBody>
      </p:sp>
      <p:sp>
        <p:nvSpPr>
          <p:cNvPr id="11" name="TextBox 10">
            <a:extLst>
              <a:ext uri="{FF2B5EF4-FFF2-40B4-BE49-F238E27FC236}">
                <a16:creationId xmlns:a16="http://schemas.microsoft.com/office/drawing/2014/main" id="{47685BFA-DF95-6F3D-198F-FBDDA1AC2CCF}"/>
              </a:ext>
            </a:extLst>
          </p:cNvPr>
          <p:cNvSpPr txBox="1"/>
          <p:nvPr/>
        </p:nvSpPr>
        <p:spPr>
          <a:xfrm>
            <a:off x="8146030" y="951399"/>
            <a:ext cx="3713584" cy="5355312"/>
          </a:xfrm>
          <a:prstGeom prst="rect">
            <a:avLst/>
          </a:prstGeom>
          <a:noFill/>
        </p:spPr>
        <p:txBody>
          <a:bodyPr wrap="square" rtlCol="0">
            <a:spAutoFit/>
          </a:bodyPr>
          <a:lstStyle/>
          <a:p>
            <a:endParaRPr lang="en-US" dirty="0"/>
          </a:p>
          <a:p>
            <a:r>
              <a:rPr lang="en-US" dirty="0">
                <a:latin typeface="Calibri" panose="020F0502020204030204" pitchFamily="34" charset="0"/>
                <a:ea typeface="Calibri" panose="020F0502020204030204" pitchFamily="34" charset="0"/>
                <a:cs typeface="Calibri" panose="020F0502020204030204" pitchFamily="34" charset="0"/>
              </a:rPr>
              <a:t>Number of Users: The graph shows a steady increase in the number of users over time, reaching approximately 1,500 users </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Spawn Rate: 10</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Requests per Second: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requests: 80 - 120</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Spawn rate: 10</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Response Times: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Median response time: 300000 milliseconds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Average response time: 1,0785 milliseconds</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Number of Users: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Concurrent user demand: A high failure rate indicates a severe system overload.</a:t>
            </a:r>
          </a:p>
          <a:p>
            <a:endParaRPr lang="en-IN" dirty="0"/>
          </a:p>
        </p:txBody>
      </p:sp>
      <p:pic>
        <p:nvPicPr>
          <p:cNvPr id="4" name="Picture 3" descr="A screenshot of a computer screen&#10;&#10;Description automatically generated">
            <a:extLst>
              <a:ext uri="{FF2B5EF4-FFF2-40B4-BE49-F238E27FC236}">
                <a16:creationId xmlns:a16="http://schemas.microsoft.com/office/drawing/2014/main" id="{80DC4881-772A-B7B8-DBBB-D8911B7B3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99" y="1071563"/>
            <a:ext cx="7813644" cy="5650250"/>
          </a:xfrm>
          <a:prstGeom prst="rect">
            <a:avLst/>
          </a:prstGeom>
        </p:spPr>
      </p:pic>
      <p:sp>
        <p:nvSpPr>
          <p:cNvPr id="2" name="Rectangle 1">
            <a:extLst>
              <a:ext uri="{FF2B5EF4-FFF2-40B4-BE49-F238E27FC236}">
                <a16:creationId xmlns:a16="http://schemas.microsoft.com/office/drawing/2014/main" id="{A27BFBD7-6F65-C8BA-F94E-BE529DB728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 high failure rate shows that the system is severely overloaded. </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2466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0E9A6ED-B880-44EA-8D60-C9D3C82CC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1700577-A2EF-EC85-3D9B-23B2FC78FE26}"/>
              </a:ext>
            </a:extLst>
          </p:cNvPr>
          <p:cNvSpPr>
            <a:spLocks noGrp="1"/>
          </p:cNvSpPr>
          <p:nvPr>
            <p:ph type="title"/>
          </p:nvPr>
        </p:nvSpPr>
        <p:spPr>
          <a:xfrm>
            <a:off x="648929" y="557190"/>
            <a:ext cx="5170852" cy="1671564"/>
          </a:xfrm>
        </p:spPr>
        <p:txBody>
          <a:bodyPr vert="horz" lIns="91440" tIns="45720" rIns="91440" bIns="45720" rtlCol="0" anchor="ctr">
            <a:normAutofit/>
          </a:bodyPr>
          <a:lstStyle/>
          <a:p>
            <a:r>
              <a:rPr lang="en-US" sz="4000" spc="-20"/>
              <a:t>Reliability</a:t>
            </a:r>
            <a:r>
              <a:rPr lang="en-US" sz="4000" spc="-195"/>
              <a:t> </a:t>
            </a:r>
            <a:r>
              <a:rPr lang="en-US" sz="4000" spc="-5"/>
              <a:t>Testing</a:t>
            </a:r>
            <a:endParaRPr lang="en-US" sz="4000"/>
          </a:p>
        </p:txBody>
      </p:sp>
      <p:sp>
        <p:nvSpPr>
          <p:cNvPr id="6" name="Text Placeholder 5">
            <a:extLst>
              <a:ext uri="{FF2B5EF4-FFF2-40B4-BE49-F238E27FC236}">
                <a16:creationId xmlns:a16="http://schemas.microsoft.com/office/drawing/2014/main" id="{9700649B-1AD1-38DF-4928-469975E1F780}"/>
              </a:ext>
            </a:extLst>
          </p:cNvPr>
          <p:cNvSpPr>
            <a:spLocks noGrp="1"/>
          </p:cNvSpPr>
          <p:nvPr>
            <p:ph type="body" sz="half" idx="2"/>
          </p:nvPr>
        </p:nvSpPr>
        <p:spPr>
          <a:xfrm>
            <a:off x="648930" y="1936956"/>
            <a:ext cx="5180245" cy="3460954"/>
          </a:xfrm>
        </p:spPr>
        <p:txBody>
          <a:bodyPr vert="horz" lIns="91440" tIns="45720" rIns="91440" bIns="45720" rtlCol="0">
            <a:normAutofit/>
          </a:bodyPr>
          <a:lstStyle/>
          <a:p>
            <a:pPr marL="285750" indent="-2286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Reliability testing often entails putting the application to expected or perhaps slightly increased, workloads for extended periods.</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285750" indent="-2286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 may also include assessments of the application's ability to withstand intermittent or fluctuating loads over time.</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285750" indent="-2286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primary purpose is to detect and correct unexpected software errors.</a:t>
            </a:r>
          </a:p>
          <a:p>
            <a:pPr marL="285750" indent="-228600">
              <a:buFont typeface="Arial" panose="020B0604020202020204" pitchFamily="34" charset="0"/>
              <a:buChar char="•"/>
            </a:pPr>
            <a:endParaRPr lang="en-US" sz="2000" dirty="0"/>
          </a:p>
          <a:p>
            <a:pPr marL="285750" indent="-228600">
              <a:buFont typeface="Arial" panose="020B0604020202020204" pitchFamily="34" charset="0"/>
              <a:buChar char="•"/>
            </a:pPr>
            <a:endParaRPr lang="en-US" sz="2000" dirty="0"/>
          </a:p>
          <a:p>
            <a:pPr marL="285750" indent="-228600">
              <a:buFont typeface="Arial" panose="020B0604020202020204" pitchFamily="34" charset="0"/>
              <a:buChar char="•"/>
            </a:pPr>
            <a:endParaRPr lang="en-US" sz="2000" dirty="0"/>
          </a:p>
        </p:txBody>
      </p:sp>
      <p:pic>
        <p:nvPicPr>
          <p:cNvPr id="8" name="Picture 7">
            <a:extLst>
              <a:ext uri="{FF2B5EF4-FFF2-40B4-BE49-F238E27FC236}">
                <a16:creationId xmlns:a16="http://schemas.microsoft.com/office/drawing/2014/main" id="{1B57A10F-A7F3-ADC7-885C-0F9483565A4C}"/>
              </a:ext>
            </a:extLst>
          </p:cNvPr>
          <p:cNvPicPr>
            <a:picLocks noChangeAspect="1"/>
          </p:cNvPicPr>
          <p:nvPr/>
        </p:nvPicPr>
        <p:blipFill rotWithShape="1">
          <a:blip r:embed="rId2"/>
          <a:srcRect r="16942"/>
          <a:stretch/>
        </p:blipFill>
        <p:spPr>
          <a:xfrm>
            <a:off x="6094475" y="136187"/>
            <a:ext cx="5763542" cy="6527259"/>
          </a:xfrm>
          <a:prstGeom prst="rect">
            <a:avLst/>
          </a:prstGeom>
          <a:effectLst/>
        </p:spPr>
      </p:pic>
    </p:spTree>
    <p:extLst>
      <p:ext uri="{BB962C8B-B14F-4D97-AF65-F5344CB8AC3E}">
        <p14:creationId xmlns:p14="http://schemas.microsoft.com/office/powerpoint/2010/main" val="2527086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6B8D888-75A4-76FB-44A8-335903AF800D}"/>
              </a:ext>
            </a:extLst>
          </p:cNvPr>
          <p:cNvSpPr txBox="1">
            <a:spLocks/>
          </p:cNvSpPr>
          <p:nvPr/>
        </p:nvSpPr>
        <p:spPr>
          <a:xfrm>
            <a:off x="1123950" y="328613"/>
            <a:ext cx="9601200" cy="1485900"/>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IN" dirty="0"/>
              <a:t>Reliability Testing Result Analysis</a:t>
            </a:r>
          </a:p>
        </p:txBody>
      </p:sp>
      <p:sp>
        <p:nvSpPr>
          <p:cNvPr id="11" name="TextBox 10">
            <a:extLst>
              <a:ext uri="{FF2B5EF4-FFF2-40B4-BE49-F238E27FC236}">
                <a16:creationId xmlns:a16="http://schemas.microsoft.com/office/drawing/2014/main" id="{47685BFA-DF95-6F3D-198F-FBDDA1AC2CCF}"/>
              </a:ext>
            </a:extLst>
          </p:cNvPr>
          <p:cNvSpPr txBox="1"/>
          <p:nvPr/>
        </p:nvSpPr>
        <p:spPr>
          <a:xfrm>
            <a:off x="8098572" y="1496393"/>
            <a:ext cx="3908233" cy="4524315"/>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Number of Users: The graph shows a steady increase in the number of users over time, reaching approximately 100 users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Spawn Rate: 10</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Test Results:</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Requests: The total requests per second increases over time, reaching just above 60 RPS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Failed Requests: 0</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Median Response Time: 15 milliseconds</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Average Response Time: It fluctuates between approximately 500ms and slightly above 2000ms.</a:t>
            </a:r>
          </a:p>
        </p:txBody>
      </p:sp>
      <p:pic>
        <p:nvPicPr>
          <p:cNvPr id="4" name="Picture 3" descr="A screenshot of a computer screen&#10;&#10;Description automatically generated">
            <a:extLst>
              <a:ext uri="{FF2B5EF4-FFF2-40B4-BE49-F238E27FC236}">
                <a16:creationId xmlns:a16="http://schemas.microsoft.com/office/drawing/2014/main" id="{B8A6933D-99F1-26B9-38E1-5D6E73E67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195" y="1288915"/>
            <a:ext cx="7830396" cy="5491558"/>
          </a:xfrm>
          <a:prstGeom prst="rect">
            <a:avLst/>
          </a:prstGeom>
        </p:spPr>
      </p:pic>
    </p:spTree>
    <p:extLst>
      <p:ext uri="{BB962C8B-B14F-4D97-AF65-F5344CB8AC3E}">
        <p14:creationId xmlns:p14="http://schemas.microsoft.com/office/powerpoint/2010/main" val="636367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558E3-8FB9-4E5D-F90C-B0AF9A23F8A5}"/>
              </a:ext>
            </a:extLst>
          </p:cNvPr>
          <p:cNvSpPr>
            <a:spLocks noGrp="1"/>
          </p:cNvSpPr>
          <p:nvPr>
            <p:ph type="title"/>
          </p:nvPr>
        </p:nvSpPr>
        <p:spPr/>
        <p:txBody>
          <a:bodyPr/>
          <a:lstStyle/>
          <a:p>
            <a:r>
              <a:rPr lang="en-US" dirty="0"/>
              <a:t>Capacity Testing</a:t>
            </a:r>
            <a:endParaRPr lang="en-IN" dirty="0"/>
          </a:p>
        </p:txBody>
      </p:sp>
      <p:sp>
        <p:nvSpPr>
          <p:cNvPr id="3" name="Content Placeholder 2">
            <a:extLst>
              <a:ext uri="{FF2B5EF4-FFF2-40B4-BE49-F238E27FC236}">
                <a16:creationId xmlns:a16="http://schemas.microsoft.com/office/drawing/2014/main" id="{7915E18F-C33D-158F-7538-B131F56EBB80}"/>
              </a:ext>
            </a:extLst>
          </p:cNvPr>
          <p:cNvSpPr>
            <a:spLocks noGrp="1"/>
          </p:cNvSpPr>
          <p:nvPr>
            <p:ph idx="1"/>
          </p:nvPr>
        </p:nvSpPr>
        <p:spPr>
          <a:xfrm>
            <a:off x="838200" y="1789471"/>
            <a:ext cx="10515600" cy="3991897"/>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Capacity testing is used to determine a system's maximum operating capacity, which includes understanding when the system's performance begins to degrade or fails under rising workloads.</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major goal of this testing is to ensure that a system can handle a large number of users, transactions, or data loads, as well as to establish what level of resources are required to allow future usage growth without sacrificing performance.</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algn="just"/>
            <a:r>
              <a:rPr lang="en-US" sz="2000" dirty="0">
                <a:latin typeface="Calibri" panose="020F0502020204030204" pitchFamily="34" charset="0"/>
                <a:ea typeface="Calibri" panose="020F0502020204030204" pitchFamily="34" charset="0"/>
                <a:cs typeface="Calibri" panose="020F0502020204030204" pitchFamily="34" charset="0"/>
              </a:rPr>
              <a:t>This testing determines capacity limits by evaluating system parameters such as response times, throughput, and resource utilization levels. It includes gradually increasing the load until the system's performance becomes unacceptable.</a:t>
            </a:r>
          </a:p>
          <a:p>
            <a:endParaRPr lang="en-US" dirty="0"/>
          </a:p>
          <a:p>
            <a:endParaRPr lang="en-US" dirty="0"/>
          </a:p>
        </p:txBody>
      </p:sp>
    </p:spTree>
    <p:extLst>
      <p:ext uri="{BB962C8B-B14F-4D97-AF65-F5344CB8AC3E}">
        <p14:creationId xmlns:p14="http://schemas.microsoft.com/office/powerpoint/2010/main" val="288804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3478C91-3E91-7212-3DBB-9081CAFE66F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530" y="3586837"/>
            <a:ext cx="6350940" cy="3271163"/>
          </a:xfrm>
          <a:prstGeom prst="rect">
            <a:avLst/>
          </a:prstGeom>
          <a:noFill/>
          <a:ln>
            <a:noFill/>
          </a:ln>
        </p:spPr>
      </p:pic>
      <p:sp>
        <p:nvSpPr>
          <p:cNvPr id="13" name="Title 1">
            <a:extLst>
              <a:ext uri="{FF2B5EF4-FFF2-40B4-BE49-F238E27FC236}">
                <a16:creationId xmlns:a16="http://schemas.microsoft.com/office/drawing/2014/main" id="{B8BB7A9E-9C27-6945-04C3-32526A1F62EC}"/>
              </a:ext>
            </a:extLst>
          </p:cNvPr>
          <p:cNvSpPr txBox="1">
            <a:spLocks/>
          </p:cNvSpPr>
          <p:nvPr/>
        </p:nvSpPr>
        <p:spPr>
          <a:xfrm>
            <a:off x="1080892" y="223860"/>
            <a:ext cx="9601200" cy="808527"/>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dirty="0"/>
              <a:t>Capacity Testing Result Analysis</a:t>
            </a:r>
            <a:endParaRPr lang="en-IN" dirty="0"/>
          </a:p>
        </p:txBody>
      </p:sp>
      <p:sp>
        <p:nvSpPr>
          <p:cNvPr id="3" name="Subtitle 2">
            <a:extLst>
              <a:ext uri="{FF2B5EF4-FFF2-40B4-BE49-F238E27FC236}">
                <a16:creationId xmlns:a16="http://schemas.microsoft.com/office/drawing/2014/main" id="{65417C3E-71BC-3DD9-6B92-7A9B8E03A17C}"/>
              </a:ext>
            </a:extLst>
          </p:cNvPr>
          <p:cNvSpPr>
            <a:spLocks noGrp="1"/>
          </p:cNvSpPr>
          <p:nvPr>
            <p:ph type="subTitle" idx="1"/>
          </p:nvPr>
        </p:nvSpPr>
        <p:spPr>
          <a:xfrm>
            <a:off x="963562" y="1032387"/>
            <a:ext cx="9144000" cy="2554450"/>
          </a:xfrm>
        </p:spPr>
        <p:txBody>
          <a:bodyPr>
            <a:normAutofit fontScale="77500" lnSpcReduction="20000"/>
          </a:bodyPr>
          <a:lstStyle/>
          <a:p>
            <a:pPr algn="l"/>
            <a:r>
              <a:rPr lang="en-US" sz="2900" dirty="0">
                <a:latin typeface="Calibri" panose="020F0502020204030204" pitchFamily="34" charset="0"/>
                <a:ea typeface="Calibri" panose="020F0502020204030204" pitchFamily="34" charset="0"/>
                <a:cs typeface="Calibri" panose="020F0502020204030204" pitchFamily="34" charset="0"/>
              </a:rPr>
              <a:t>Response Time Graph: This graph shows the response time of HTTP requests over time.</a:t>
            </a:r>
          </a:p>
          <a:p>
            <a:pPr algn="l"/>
            <a:r>
              <a:rPr lang="en-US" sz="2900" dirty="0">
                <a:latin typeface="Calibri" panose="020F0502020204030204" pitchFamily="34" charset="0"/>
                <a:ea typeface="Calibri" panose="020F0502020204030204" pitchFamily="34" charset="0"/>
                <a:cs typeface="Calibri" panose="020F0502020204030204" pitchFamily="34" charset="0"/>
              </a:rPr>
              <a:t>Initially, there is a large spike in response time, indicating a delay in processing requests. This could be the result of an initial load or stress on the server.</a:t>
            </a:r>
          </a:p>
          <a:p>
            <a:pPr algn="l"/>
            <a:endParaRPr lang="en-US" sz="2900" dirty="0">
              <a:latin typeface="Calibri" panose="020F0502020204030204" pitchFamily="34" charset="0"/>
              <a:ea typeface="Calibri" panose="020F0502020204030204" pitchFamily="34" charset="0"/>
              <a:cs typeface="Calibri" panose="020F0502020204030204" pitchFamily="34" charset="0"/>
            </a:endParaRPr>
          </a:p>
          <a:p>
            <a:pPr algn="l"/>
            <a:r>
              <a:rPr lang="en-US" sz="2900" dirty="0">
                <a:latin typeface="Calibri" panose="020F0502020204030204" pitchFamily="34" charset="0"/>
                <a:ea typeface="Calibri" panose="020F0502020204030204" pitchFamily="34" charset="0"/>
                <a:cs typeface="Calibri" panose="020F0502020204030204" pitchFamily="34" charset="0"/>
              </a:rPr>
              <a:t>As additional requests are made, the response time stabilizes but remains variable. This implies that the system is capable of handling several requests, however some delays may occur.</a:t>
            </a:r>
          </a:p>
          <a:p>
            <a:endParaRPr lang="en-CA" dirty="0"/>
          </a:p>
        </p:txBody>
      </p:sp>
    </p:spTree>
    <p:extLst>
      <p:ext uri="{BB962C8B-B14F-4D97-AF65-F5344CB8AC3E}">
        <p14:creationId xmlns:p14="http://schemas.microsoft.com/office/powerpoint/2010/main" val="337991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60364-83E7-1865-CEA8-BFB46BBD3572}"/>
              </a:ext>
            </a:extLst>
          </p:cNvPr>
          <p:cNvSpPr>
            <a:spLocks noGrp="1"/>
          </p:cNvSpPr>
          <p:nvPr>
            <p:ph type="title"/>
          </p:nvPr>
        </p:nvSpPr>
        <p:spPr>
          <a:xfrm>
            <a:off x="1219200" y="34990"/>
            <a:ext cx="9601200" cy="1485900"/>
          </a:xfrm>
        </p:spPr>
        <p:txBody>
          <a:bodyPr/>
          <a:lstStyle/>
          <a:p>
            <a:r>
              <a:rPr lang="en-US" dirty="0"/>
              <a:t>Capacity Testing Result Analysis</a:t>
            </a:r>
            <a:endParaRPr lang="en-IN" dirty="0"/>
          </a:p>
        </p:txBody>
      </p:sp>
      <p:sp>
        <p:nvSpPr>
          <p:cNvPr id="3" name="Content Placeholder 2">
            <a:extLst>
              <a:ext uri="{FF2B5EF4-FFF2-40B4-BE49-F238E27FC236}">
                <a16:creationId xmlns:a16="http://schemas.microsoft.com/office/drawing/2014/main" id="{E0949E3D-4271-FFC9-82F5-867D6AE8E2AE}"/>
              </a:ext>
            </a:extLst>
          </p:cNvPr>
          <p:cNvSpPr>
            <a:spLocks noGrp="1"/>
          </p:cNvSpPr>
          <p:nvPr>
            <p:ph idx="1"/>
          </p:nvPr>
        </p:nvSpPr>
        <p:spPr>
          <a:xfrm>
            <a:off x="1125793" y="1520889"/>
            <a:ext cx="9601200" cy="4103163"/>
          </a:xfrm>
        </p:spPr>
        <p:txBody>
          <a:bodyPr>
            <a:normAutofit/>
          </a:bodyPr>
          <a:lstStyle/>
          <a:p>
            <a:pPr algn="just"/>
            <a:r>
              <a:rPr lang="en-US" sz="1600" dirty="0">
                <a:latin typeface="Calibri" panose="020F0502020204030204" pitchFamily="34" charset="0"/>
                <a:ea typeface="Calibri" panose="020F0502020204030204" pitchFamily="34" charset="0"/>
                <a:cs typeface="Calibri" panose="020F0502020204030204" pitchFamily="34" charset="0"/>
              </a:rPr>
              <a:t>Optimal Load Handling: As the sample count reached 2,000, the average response time improved significantly. When confronted with loads approaching 2,000 samples, the server displayed its peak performance.</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r>
              <a:rPr lang="en-US" sz="1600" dirty="0">
                <a:latin typeface="Calibri" panose="020F0502020204030204" pitchFamily="34" charset="0"/>
                <a:ea typeface="Calibri" panose="020F0502020204030204" pitchFamily="34" charset="0"/>
                <a:cs typeface="Calibri" panose="020F0502020204030204" pitchFamily="34" charset="0"/>
              </a:rPr>
              <a:t>Error Rate Reduction: Error rates decreased. At 2,000 samples, the error rate was 0%. This implies that the server's optimal capability for processing requests without errors is compatible with this load level.</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r>
              <a:rPr lang="en-US" sz="1600" dirty="0">
                <a:latin typeface="Calibri" panose="020F0502020204030204" pitchFamily="34" charset="0"/>
                <a:ea typeface="Calibri" panose="020F0502020204030204" pitchFamily="34" charset="0"/>
                <a:cs typeface="Calibri" panose="020F0502020204030204" pitchFamily="34" charset="0"/>
              </a:rPr>
              <a:t>Higher throughput efficiency was attained with 2,000 samples. This load level indicates the efficiency "sweet spot.“ Interestingly, the highest efficiency correlated with the lowest error rate.</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r>
              <a:rPr lang="en-US" sz="1600" dirty="0">
                <a:latin typeface="Calibri" panose="020F0502020204030204" pitchFamily="34" charset="0"/>
                <a:ea typeface="Calibri" panose="020F0502020204030204" pitchFamily="34" charset="0"/>
                <a:cs typeface="Calibri" panose="020F0502020204030204" pitchFamily="34" charset="0"/>
              </a:rPr>
              <a:t>Data Transfer Rates: Data received peaked at 2,000 samples. This is consistent with the increased throughput seen at the same load level. Consistent response speeds are shown by a smaller standard deviation across 2,000 samples. In contrast, higher departures at other load levels indicate variability and possibly instability.</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r>
              <a:rPr lang="en-US" sz="1600" dirty="0">
                <a:latin typeface="Calibri" panose="020F0502020204030204" pitchFamily="34" charset="0"/>
                <a:ea typeface="Calibri" panose="020F0502020204030204" pitchFamily="34" charset="0"/>
                <a:cs typeface="Calibri" panose="020F0502020204030204" pitchFamily="34" charset="0"/>
              </a:rPr>
              <a:t>Response Size Stability: The average response size remained consistent at various load levels. This shows that response size variations had no major impact on the measurements.</a:t>
            </a:r>
          </a:p>
          <a:p>
            <a:pPr algn="just"/>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endParaRPr lang="en-US" dirty="0"/>
          </a:p>
        </p:txBody>
      </p:sp>
    </p:spTree>
    <p:extLst>
      <p:ext uri="{BB962C8B-B14F-4D97-AF65-F5344CB8AC3E}">
        <p14:creationId xmlns:p14="http://schemas.microsoft.com/office/powerpoint/2010/main" val="4175222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9F507-56BB-FDED-D04D-BACAC54DAD38}"/>
              </a:ext>
            </a:extLst>
          </p:cNvPr>
          <p:cNvSpPr>
            <a:spLocks noGrp="1"/>
          </p:cNvSpPr>
          <p:nvPr>
            <p:ph type="title"/>
          </p:nvPr>
        </p:nvSpPr>
        <p:spPr/>
        <p:txBody>
          <a:bodyPr/>
          <a:lstStyle/>
          <a:p>
            <a:r>
              <a:rPr lang="en-IN" dirty="0"/>
              <a:t>Volume Testing</a:t>
            </a:r>
          </a:p>
        </p:txBody>
      </p:sp>
      <p:sp>
        <p:nvSpPr>
          <p:cNvPr id="3" name="Content Placeholder 2">
            <a:extLst>
              <a:ext uri="{FF2B5EF4-FFF2-40B4-BE49-F238E27FC236}">
                <a16:creationId xmlns:a16="http://schemas.microsoft.com/office/drawing/2014/main" id="{42BBE810-A51C-6749-BFC7-094342747FFD}"/>
              </a:ext>
            </a:extLst>
          </p:cNvPr>
          <p:cNvSpPr>
            <a:spLocks noGrp="1"/>
          </p:cNvSpPr>
          <p:nvPr>
            <p:ph idx="1"/>
          </p:nvPr>
        </p:nvSpPr>
        <p:spPr>
          <a:xfrm>
            <a:off x="838200" y="1524000"/>
            <a:ext cx="10515600" cy="4652963"/>
          </a:xfrm>
        </p:spPr>
        <p:txBody>
          <a:bodyPr>
            <a:norm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Volume testing, a component of performance testing, evaluates a system's ability to handle enormous amounts of data.</a:t>
            </a:r>
            <a:br>
              <a:rPr lang="en-US" sz="2500" dirty="0">
                <a:latin typeface="Calibri" panose="020F0502020204030204" pitchFamily="34" charset="0"/>
                <a:ea typeface="Calibri" panose="020F0502020204030204" pitchFamily="34" charset="0"/>
                <a:cs typeface="Calibri" panose="020F0502020204030204" pitchFamily="34" charset="0"/>
              </a:rPr>
            </a:br>
            <a:endParaRPr lang="en-US" sz="2500" dirty="0">
              <a:latin typeface="Calibri" panose="020F0502020204030204" pitchFamily="34" charset="0"/>
              <a:ea typeface="Calibri" panose="020F0502020204030204" pitchFamily="34" charset="0"/>
              <a:cs typeface="Calibri" panose="020F0502020204030204" pitchFamily="34" charset="0"/>
            </a:endParaRPr>
          </a:p>
          <a:p>
            <a:r>
              <a:rPr lang="en-US" sz="2500" dirty="0">
                <a:latin typeface="Calibri" panose="020F0502020204030204" pitchFamily="34" charset="0"/>
                <a:ea typeface="Calibri" panose="020F0502020204030204" pitchFamily="34" charset="0"/>
                <a:cs typeface="Calibri" panose="020F0502020204030204" pitchFamily="34" charset="0"/>
              </a:rPr>
              <a:t>To test the system's performance with different database volumes, which is crucial for data-intensive applications.</a:t>
            </a:r>
            <a:br>
              <a:rPr lang="en-US" sz="2500" dirty="0">
                <a:latin typeface="Calibri" panose="020F0502020204030204" pitchFamily="34" charset="0"/>
                <a:ea typeface="Calibri" panose="020F0502020204030204" pitchFamily="34" charset="0"/>
                <a:cs typeface="Calibri" panose="020F0502020204030204" pitchFamily="34" charset="0"/>
              </a:rPr>
            </a:br>
            <a:endParaRPr lang="en-US" sz="2500" dirty="0">
              <a:latin typeface="Calibri" panose="020F0502020204030204" pitchFamily="34" charset="0"/>
              <a:ea typeface="Calibri" panose="020F0502020204030204" pitchFamily="34" charset="0"/>
              <a:cs typeface="Calibri" panose="020F0502020204030204" pitchFamily="34" charset="0"/>
            </a:endParaRPr>
          </a:p>
          <a:p>
            <a:r>
              <a:rPr lang="en-US" sz="2500" dirty="0">
                <a:latin typeface="Calibri" panose="020F0502020204030204" pitchFamily="34" charset="0"/>
                <a:ea typeface="Calibri" panose="020F0502020204030204" pitchFamily="34" charset="0"/>
                <a:cs typeface="Calibri" panose="020F0502020204030204" pitchFamily="34" charset="0"/>
              </a:rPr>
              <a:t>It primarily assesses database performance, data processing, and reaction times as the volume of data increases.</a:t>
            </a:r>
          </a:p>
          <a:p>
            <a:endParaRPr lang="en-US" sz="2500" dirty="0">
              <a:latin typeface="Calibri" panose="020F0502020204030204" pitchFamily="34" charset="0"/>
              <a:ea typeface="Calibri" panose="020F0502020204030204" pitchFamily="34" charset="0"/>
              <a:cs typeface="Calibri" panose="020F0502020204030204" pitchFamily="34" charset="0"/>
            </a:endParaRPr>
          </a:p>
          <a:p>
            <a:r>
              <a:rPr lang="en-US" sz="2500" dirty="0">
                <a:latin typeface="Calibri" panose="020F0502020204030204" pitchFamily="34" charset="0"/>
                <a:ea typeface="Calibri" panose="020F0502020204030204" pitchFamily="34" charset="0"/>
                <a:cs typeface="Calibri" panose="020F0502020204030204" pitchFamily="34" charset="0"/>
              </a:rPr>
              <a:t>Ensures that the application can handle predicted loads during peak periods without sacrificing service quality.</a:t>
            </a:r>
          </a:p>
          <a:p>
            <a:endParaRPr lang="en-US" dirty="0"/>
          </a:p>
          <a:p>
            <a:endParaRPr lang="en-IN" dirty="0"/>
          </a:p>
        </p:txBody>
      </p:sp>
    </p:spTree>
    <p:extLst>
      <p:ext uri="{BB962C8B-B14F-4D97-AF65-F5344CB8AC3E}">
        <p14:creationId xmlns:p14="http://schemas.microsoft.com/office/powerpoint/2010/main" val="3887660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137AF-6E96-9D40-6837-F0921F08F333}"/>
              </a:ext>
            </a:extLst>
          </p:cNvPr>
          <p:cNvSpPr>
            <a:spLocks noGrp="1"/>
          </p:cNvSpPr>
          <p:nvPr>
            <p:ph type="title"/>
          </p:nvPr>
        </p:nvSpPr>
        <p:spPr>
          <a:xfrm>
            <a:off x="916253" y="163286"/>
            <a:ext cx="9601200" cy="1485900"/>
          </a:xfrm>
        </p:spPr>
        <p:txBody>
          <a:bodyPr/>
          <a:lstStyle/>
          <a:p>
            <a:r>
              <a:rPr lang="en-IN" dirty="0"/>
              <a:t>Volume Testing Result Analysis</a:t>
            </a:r>
          </a:p>
        </p:txBody>
      </p:sp>
      <p:sp>
        <p:nvSpPr>
          <p:cNvPr id="3" name="Content Placeholder 2">
            <a:extLst>
              <a:ext uri="{FF2B5EF4-FFF2-40B4-BE49-F238E27FC236}">
                <a16:creationId xmlns:a16="http://schemas.microsoft.com/office/drawing/2014/main" id="{C82A41F1-CDC5-B683-CB22-2622AAE47924}"/>
              </a:ext>
            </a:extLst>
          </p:cNvPr>
          <p:cNvSpPr>
            <a:spLocks noGrp="1"/>
          </p:cNvSpPr>
          <p:nvPr>
            <p:ph idx="1"/>
          </p:nvPr>
        </p:nvSpPr>
        <p:spPr>
          <a:xfrm>
            <a:off x="6951307" y="1347020"/>
            <a:ext cx="4730620" cy="5254148"/>
          </a:xfrm>
        </p:spPr>
        <p:txBody>
          <a:bodyPr>
            <a:normAutofit fontScale="92500" lnSpcReduction="10000"/>
          </a:bodyPr>
          <a:lstStyle/>
          <a:p>
            <a:r>
              <a:rPr lang="en-US" sz="1800" b="1" dirty="0">
                <a:latin typeface="Calibri" panose="020F0502020204030204" pitchFamily="34" charset="0"/>
                <a:ea typeface="Calibri" panose="020F0502020204030204" pitchFamily="34" charset="0"/>
                <a:cs typeface="Calibri" panose="020F0502020204030204" pitchFamily="34" charset="0"/>
              </a:rPr>
              <a:t>Scalability</a:t>
            </a:r>
            <a:r>
              <a:rPr lang="en-US" sz="1800" dirty="0">
                <a:latin typeface="Calibri" panose="020F0502020204030204" pitchFamily="34" charset="0"/>
                <a:ea typeface="Calibri" panose="020F0502020204030204" pitchFamily="34" charset="0"/>
                <a:cs typeface="Calibri" panose="020F0502020204030204" pitchFamily="34" charset="0"/>
              </a:rPr>
              <a:t>: The system appears to have scalability issues. Initially, the response time is high but stabilizes as the number of HTTP requests increases. This suggests that the system struggles to scale efficiently under increased loads.</a:t>
            </a:r>
          </a:p>
          <a:p>
            <a:r>
              <a:rPr lang="en-US" sz="1800" b="1" dirty="0">
                <a:latin typeface="Calibri" panose="020F0502020204030204" pitchFamily="34" charset="0"/>
                <a:ea typeface="Calibri" panose="020F0502020204030204" pitchFamily="34" charset="0"/>
                <a:cs typeface="Calibri" panose="020F0502020204030204" pitchFamily="34" charset="0"/>
              </a:rPr>
              <a:t>Response Times</a:t>
            </a:r>
            <a:r>
              <a:rPr lang="en-US" sz="1800" dirty="0">
                <a:latin typeface="Calibri" panose="020F0502020204030204" pitchFamily="34" charset="0"/>
                <a:ea typeface="Calibri" panose="020F0502020204030204" pitchFamily="34" charset="0"/>
                <a:cs typeface="Calibri" panose="020F0502020204030204" pitchFamily="34" charset="0"/>
              </a:rPr>
              <a:t>: The graph shows a sharp decrease in response times after an initial spike. The initial response time is around 27,000 milliseconds, but it quickly drops to stabilize at 3,000 milliseconds. This indicates that the system experiences high response times during the initial load but becomes more stable afterward.</a:t>
            </a:r>
          </a:p>
          <a:p>
            <a:r>
              <a:rPr lang="en-US" sz="1800" b="1" dirty="0">
                <a:latin typeface="Calibri" panose="020F0502020204030204" pitchFamily="34" charset="0"/>
                <a:ea typeface="Calibri" panose="020F0502020204030204" pitchFamily="34" charset="0"/>
                <a:cs typeface="Calibri" panose="020F0502020204030204" pitchFamily="34" charset="0"/>
              </a:rPr>
              <a:t>Resource Utilization: </a:t>
            </a:r>
            <a:r>
              <a:rPr lang="en-US" sz="1800" dirty="0">
                <a:latin typeface="Calibri" panose="020F0502020204030204" pitchFamily="34" charset="0"/>
                <a:ea typeface="Calibri" panose="020F0502020204030204" pitchFamily="34" charset="0"/>
                <a:cs typeface="Calibri" panose="020F0502020204030204" pitchFamily="34" charset="0"/>
              </a:rPr>
              <a:t>The CPU utilization is consistently high across all loads, which could be a potential bottleneck. Memory utilization remains stable, suggesting efficient memory management.</a:t>
            </a:r>
          </a:p>
          <a:p>
            <a:r>
              <a:rPr lang="en-US" sz="1800" b="1" dirty="0">
                <a:latin typeface="Calibri" panose="020F0502020204030204" pitchFamily="34" charset="0"/>
                <a:ea typeface="Calibri" panose="020F0502020204030204" pitchFamily="34" charset="0"/>
                <a:cs typeface="Calibri" panose="020F0502020204030204" pitchFamily="34" charset="0"/>
              </a:rPr>
              <a:t>Error Rate: </a:t>
            </a:r>
            <a:r>
              <a:rPr lang="en-US" sz="1800" dirty="0">
                <a:latin typeface="Calibri" panose="020F0502020204030204" pitchFamily="34" charset="0"/>
                <a:ea typeface="Calibri" panose="020F0502020204030204" pitchFamily="34" charset="0"/>
                <a:cs typeface="Calibri" panose="020F0502020204030204" pitchFamily="34" charset="0"/>
              </a:rPr>
              <a:t>The error rate remains low even under heavy load. However, it’s essential to monitor and address any errors to ensure zero errors in customer-facing operations.</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image">
            <a:extLst>
              <a:ext uri="{FF2B5EF4-FFF2-40B4-BE49-F238E27FC236}">
                <a16:creationId xmlns:a16="http://schemas.microsoft.com/office/drawing/2014/main" id="{725F0E2A-64D5-D2A2-8021-79D11046D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590" y="1917200"/>
            <a:ext cx="5986364" cy="3268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027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682F2-089E-DF32-12E7-08D264AAAF30}"/>
              </a:ext>
            </a:extLst>
          </p:cNvPr>
          <p:cNvSpPr>
            <a:spLocks noGrp="1"/>
          </p:cNvSpPr>
          <p:nvPr>
            <p:ph type="title"/>
          </p:nvPr>
        </p:nvSpPr>
        <p:spPr/>
        <p:txBody>
          <a:bodyPr/>
          <a:lstStyle/>
          <a:p>
            <a:r>
              <a:rPr lang="en-IN" dirty="0"/>
              <a:t>Scalability Testing</a:t>
            </a:r>
          </a:p>
        </p:txBody>
      </p:sp>
      <p:sp>
        <p:nvSpPr>
          <p:cNvPr id="3" name="Content Placeholder 2">
            <a:extLst>
              <a:ext uri="{FF2B5EF4-FFF2-40B4-BE49-F238E27FC236}">
                <a16:creationId xmlns:a16="http://schemas.microsoft.com/office/drawing/2014/main" id="{F639521E-A376-67C6-5142-CC550606E4DF}"/>
              </a:ext>
            </a:extLst>
          </p:cNvPr>
          <p:cNvSpPr>
            <a:spLocks noGrp="1"/>
          </p:cNvSpPr>
          <p:nvPr>
            <p:ph idx="1"/>
          </p:nvPr>
        </p:nvSpPr>
        <p:spPr>
          <a:xfrm>
            <a:off x="838200" y="1487156"/>
            <a:ext cx="10515600" cy="4689807"/>
          </a:xfrm>
        </p:spPr>
        <p:txBody>
          <a:bodyPr>
            <a:normAutofit fontScale="92500" lnSpcReduction="10000"/>
          </a:bodyPr>
          <a:lstStyle/>
          <a:p>
            <a:pPr marL="0" indent="0">
              <a:buNone/>
            </a:pPr>
            <a:r>
              <a:rPr lang="en-US" dirty="0"/>
              <a:t>Scalability is a system, network, or process's ability to manage an increasing quantity of work or its potential to be expanded to accommodate that expansion.</a:t>
            </a:r>
            <a:br>
              <a:rPr lang="en-US" dirty="0"/>
            </a:br>
            <a:endParaRPr lang="en-US" dirty="0"/>
          </a:p>
          <a:p>
            <a:r>
              <a:rPr lang="en-US" sz="2500" b="1" dirty="0">
                <a:latin typeface="Calibri" panose="020F0502020204030204" pitchFamily="34" charset="0"/>
                <a:ea typeface="Calibri" panose="020F0502020204030204" pitchFamily="34" charset="0"/>
                <a:cs typeface="Calibri" panose="020F0502020204030204" pitchFamily="34" charset="0"/>
              </a:rPr>
              <a:t>Types</a:t>
            </a:r>
            <a:r>
              <a:rPr lang="en-US" dirty="0"/>
              <a:t>:</a:t>
            </a:r>
          </a:p>
          <a:p>
            <a:pPr marL="457200" lvl="1" indent="0" algn="just">
              <a:buNone/>
            </a:pPr>
            <a:r>
              <a:rPr lang="en-US" sz="2800" dirty="0"/>
              <a:t>Vertical scaling (Scaling Up) involves the addition of extra resources to an existing infrastructure (for example, more RAM or a faster CPU).</a:t>
            </a:r>
          </a:p>
          <a:p>
            <a:pPr marL="457200" lvl="1" indent="0" algn="just">
              <a:buNone/>
            </a:pPr>
            <a:r>
              <a:rPr lang="en-US" sz="2800" dirty="0"/>
              <a:t>Horizontal scaling (scaling out) is the addition of extra computers to a system, such as servers to a distributed software application.</a:t>
            </a:r>
          </a:p>
          <a:p>
            <a:pPr marL="457200" lvl="1" indent="0">
              <a:buNone/>
            </a:pPr>
            <a:br>
              <a:rPr lang="en-US" i="0" dirty="0"/>
            </a:br>
            <a:endParaRPr lang="en-US" i="0" dirty="0"/>
          </a:p>
          <a:p>
            <a:pPr algn="just"/>
            <a:r>
              <a:rPr lang="en-US" b="1" dirty="0"/>
              <a:t> </a:t>
            </a:r>
            <a:r>
              <a:rPr lang="en-US" dirty="0"/>
              <a:t>Required to handle increased load without performance degradation or downtime.</a:t>
            </a:r>
          </a:p>
        </p:txBody>
      </p:sp>
      <p:sp>
        <p:nvSpPr>
          <p:cNvPr id="4" name="Rectangle 1">
            <a:extLst>
              <a:ext uri="{FF2B5EF4-FFF2-40B4-BE49-F238E27FC236}">
                <a16:creationId xmlns:a16="http://schemas.microsoft.com/office/drawing/2014/main" id="{A3C831EB-CE98-1A6D-BF13-FC82EAC7190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Scalability is a system, network, or process's ability to manage an increasing quantity of work or its potential to be expanded to accommodate that expansion. </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505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E4AA96-814F-1A70-248E-5B79778A287E}"/>
              </a:ext>
            </a:extLst>
          </p:cNvPr>
          <p:cNvSpPr>
            <a:spLocks noGrp="1"/>
          </p:cNvSpPr>
          <p:nvPr>
            <p:ph type="title"/>
          </p:nvPr>
        </p:nvSpPr>
        <p:spPr>
          <a:xfrm>
            <a:off x="849086" y="153955"/>
            <a:ext cx="9601200" cy="1485900"/>
          </a:xfrm>
        </p:spPr>
        <p:txBody>
          <a:bodyPr/>
          <a:lstStyle/>
          <a:p>
            <a:r>
              <a:rPr lang="en-IN" dirty="0"/>
              <a:t>Scalability Test Result Analysis</a:t>
            </a:r>
          </a:p>
        </p:txBody>
      </p:sp>
      <p:graphicFrame>
        <p:nvGraphicFramePr>
          <p:cNvPr id="6" name="Table 5">
            <a:extLst>
              <a:ext uri="{FF2B5EF4-FFF2-40B4-BE49-F238E27FC236}">
                <a16:creationId xmlns:a16="http://schemas.microsoft.com/office/drawing/2014/main" id="{3AFB95DD-827E-4055-2E9C-2B05B4B10B6E}"/>
              </a:ext>
            </a:extLst>
          </p:cNvPr>
          <p:cNvGraphicFramePr>
            <a:graphicFrameLocks noGrp="1"/>
          </p:cNvGraphicFramePr>
          <p:nvPr/>
        </p:nvGraphicFramePr>
        <p:xfrm>
          <a:off x="1315617" y="1443912"/>
          <a:ext cx="3097764" cy="2099762"/>
        </p:xfrm>
        <a:graphic>
          <a:graphicData uri="http://schemas.openxmlformats.org/drawingml/2006/table">
            <a:tbl>
              <a:tblPr firstRow="1" firstCol="1" bandRow="1">
                <a:tableStyleId>{7E9639D4-E3E2-4D34-9284-5A2195B3D0D7}</a:tableStyleId>
              </a:tblPr>
              <a:tblGrid>
                <a:gridCol w="1548882">
                  <a:extLst>
                    <a:ext uri="{9D8B030D-6E8A-4147-A177-3AD203B41FA5}">
                      <a16:colId xmlns:a16="http://schemas.microsoft.com/office/drawing/2014/main" val="4236303342"/>
                    </a:ext>
                  </a:extLst>
                </a:gridCol>
                <a:gridCol w="1548882">
                  <a:extLst>
                    <a:ext uri="{9D8B030D-6E8A-4147-A177-3AD203B41FA5}">
                      <a16:colId xmlns:a16="http://schemas.microsoft.com/office/drawing/2014/main" val="1045941415"/>
                    </a:ext>
                  </a:extLst>
                </a:gridCol>
              </a:tblGrid>
              <a:tr h="349945">
                <a:tc>
                  <a:txBody>
                    <a:bodyPr/>
                    <a:lstStyle/>
                    <a:p>
                      <a:pPr algn="just">
                        <a:lnSpc>
                          <a:spcPct val="107000"/>
                        </a:lnSpc>
                        <a:spcAft>
                          <a:spcPts val="800"/>
                        </a:spcAft>
                      </a:pPr>
                      <a:r>
                        <a:rPr lang="en-IN" sz="1200" kern="100">
                          <a:solidFill>
                            <a:srgbClr val="FFFFFF"/>
                          </a:solidFill>
                          <a:effectLst/>
                        </a:rPr>
                        <a:t>Number of Samples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00" kern="100">
                          <a:solidFill>
                            <a:srgbClr val="FFFFFF"/>
                          </a:solidFill>
                          <a:effectLst/>
                        </a:rPr>
                        <a:t>Throughput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389929"/>
                  </a:ext>
                </a:extLst>
              </a:tr>
              <a:tr h="349945">
                <a:tc>
                  <a:txBody>
                    <a:bodyPr/>
                    <a:lstStyle/>
                    <a:p>
                      <a:pPr algn="just">
                        <a:lnSpc>
                          <a:spcPct val="107000"/>
                        </a:lnSpc>
                        <a:spcAft>
                          <a:spcPts val="800"/>
                        </a:spcAft>
                      </a:pPr>
                      <a:r>
                        <a:rPr lang="en-IN" sz="1200" b="1" kern="100">
                          <a:solidFill>
                            <a:srgbClr val="000000"/>
                          </a:solidFill>
                          <a:effectLst/>
                        </a:rPr>
                        <a:t>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00" kern="100" dirty="0">
                          <a:solidFill>
                            <a:srgbClr val="000000"/>
                          </a:solidFill>
                          <a:effectLst/>
                        </a:rPr>
                        <a:t>100.3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0353183"/>
                  </a:ext>
                </a:extLst>
              </a:tr>
              <a:tr h="349945">
                <a:tc>
                  <a:txBody>
                    <a:bodyPr/>
                    <a:lstStyle/>
                    <a:p>
                      <a:pPr algn="just">
                        <a:lnSpc>
                          <a:spcPct val="107000"/>
                        </a:lnSpc>
                        <a:spcAft>
                          <a:spcPts val="800"/>
                        </a:spcAft>
                      </a:pPr>
                      <a:r>
                        <a:rPr lang="en-IN" sz="1200" b="1" kern="100" dirty="0">
                          <a:effectLst/>
                        </a:rPr>
                        <a:t>200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00" kern="100">
                          <a:effectLst/>
                        </a:rPr>
                        <a:t>198.0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7279393"/>
                  </a:ext>
                </a:extLst>
              </a:tr>
              <a:tr h="350037">
                <a:tc>
                  <a:txBody>
                    <a:bodyPr/>
                    <a:lstStyle/>
                    <a:p>
                      <a:pPr algn="just">
                        <a:lnSpc>
                          <a:spcPct val="107000"/>
                        </a:lnSpc>
                        <a:spcAft>
                          <a:spcPts val="800"/>
                        </a:spcAft>
                      </a:pPr>
                      <a:r>
                        <a:rPr lang="en-IN" sz="1200" b="1" kern="100">
                          <a:solidFill>
                            <a:srgbClr val="000000"/>
                          </a:solidFill>
                          <a:effectLst/>
                        </a:rPr>
                        <a:t>300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00" kern="100">
                          <a:solidFill>
                            <a:srgbClr val="000000"/>
                          </a:solidFill>
                          <a:effectLst/>
                        </a:rPr>
                        <a:t>330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4114126"/>
                  </a:ext>
                </a:extLst>
              </a:tr>
              <a:tr h="349945">
                <a:tc>
                  <a:txBody>
                    <a:bodyPr/>
                    <a:lstStyle/>
                    <a:p>
                      <a:pPr algn="just">
                        <a:lnSpc>
                          <a:spcPct val="107000"/>
                        </a:lnSpc>
                        <a:spcAft>
                          <a:spcPts val="800"/>
                        </a:spcAft>
                      </a:pPr>
                      <a:r>
                        <a:rPr lang="en-IN" sz="1200" b="1" kern="100">
                          <a:effectLst/>
                        </a:rPr>
                        <a:t>400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00" kern="100">
                          <a:effectLst/>
                        </a:rPr>
                        <a:t>331.2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3810279"/>
                  </a:ext>
                </a:extLst>
              </a:tr>
              <a:tr h="349945">
                <a:tc>
                  <a:txBody>
                    <a:bodyPr/>
                    <a:lstStyle/>
                    <a:p>
                      <a:pPr algn="just">
                        <a:lnSpc>
                          <a:spcPct val="107000"/>
                        </a:lnSpc>
                        <a:spcAft>
                          <a:spcPts val="800"/>
                        </a:spcAft>
                      </a:pPr>
                      <a:r>
                        <a:rPr lang="en-IN" sz="1200" b="1" kern="100" dirty="0">
                          <a:solidFill>
                            <a:srgbClr val="000000"/>
                          </a:solidFill>
                          <a:effectLst/>
                        </a:rPr>
                        <a:t>500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00" kern="100" dirty="0">
                          <a:solidFill>
                            <a:srgbClr val="000000"/>
                          </a:solidFill>
                          <a:effectLst/>
                        </a:rPr>
                        <a:t>496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4319803"/>
                  </a:ext>
                </a:extLst>
              </a:tr>
            </a:tbl>
          </a:graphicData>
        </a:graphic>
      </p:graphicFrame>
      <p:sp>
        <p:nvSpPr>
          <p:cNvPr id="8" name="TextBox 7">
            <a:extLst>
              <a:ext uri="{FF2B5EF4-FFF2-40B4-BE49-F238E27FC236}">
                <a16:creationId xmlns:a16="http://schemas.microsoft.com/office/drawing/2014/main" id="{AD197499-5BBA-3D51-EC85-09907E9C4D33}"/>
              </a:ext>
            </a:extLst>
          </p:cNvPr>
          <p:cNvSpPr txBox="1"/>
          <p:nvPr/>
        </p:nvSpPr>
        <p:spPr>
          <a:xfrm>
            <a:off x="750763" y="3831175"/>
            <a:ext cx="11075436" cy="2031325"/>
          </a:xfrm>
          <a:prstGeom prst="rect">
            <a:avLst/>
          </a:prstGeom>
          <a:noFill/>
        </p:spPr>
        <p:txBody>
          <a:bodyPr wrap="square" rtlCol="0">
            <a:spAutoFit/>
          </a:bodyPr>
          <a:lstStyle/>
          <a:p>
            <a:pPr algn="just"/>
            <a:r>
              <a:rPr lang="en-US" dirty="0"/>
              <a:t>Linear Performance Growth: The system scales nearly linearly from 100 to 200 users, suggesting strong performance under initial load increases.</a:t>
            </a:r>
          </a:p>
          <a:p>
            <a:pPr algn="just"/>
            <a:r>
              <a:rPr lang="en-US" dirty="0"/>
              <a:t>Diminishing returns: A minor increase in throughput from 300 to 400 users indicates that the system is approaching capacity and may have bottlenecks.</a:t>
            </a:r>
          </a:p>
          <a:p>
            <a:pPr algn="just"/>
            <a:r>
              <a:rPr lang="en-US" dirty="0"/>
              <a:t>Unexpected Throughput Surge: A considerable increase in throughput at 500 users deviates from previous trends, indicating possible system optimizations or anomalies that require additional investigation.</a:t>
            </a:r>
          </a:p>
          <a:p>
            <a:pPr algn="just"/>
            <a:endParaRPr lang="en-US" dirty="0">
              <a:highlight>
                <a:srgbClr val="FFFF00"/>
              </a:highlight>
            </a:endParaRPr>
          </a:p>
        </p:txBody>
      </p:sp>
    </p:spTree>
    <p:extLst>
      <p:ext uri="{BB962C8B-B14F-4D97-AF65-F5344CB8AC3E}">
        <p14:creationId xmlns:p14="http://schemas.microsoft.com/office/powerpoint/2010/main" val="3659503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F4598-2ECF-1C2D-8345-D1BC72B8D832}"/>
              </a:ext>
            </a:extLst>
          </p:cNvPr>
          <p:cNvSpPr>
            <a:spLocks noGrp="1"/>
          </p:cNvSpPr>
          <p:nvPr>
            <p:ph type="title"/>
          </p:nvPr>
        </p:nvSpPr>
        <p:spPr>
          <a:xfrm>
            <a:off x="1371600" y="685800"/>
            <a:ext cx="10702212" cy="1485900"/>
          </a:xfrm>
        </p:spPr>
        <p:txBody>
          <a:bodyPr/>
          <a:lstStyle/>
          <a:p>
            <a:r>
              <a:rPr lang="en-IN" dirty="0"/>
              <a:t>Scalability Test Result Analysis Continued…</a:t>
            </a:r>
          </a:p>
        </p:txBody>
      </p:sp>
      <p:sp>
        <p:nvSpPr>
          <p:cNvPr id="3" name="Content Placeholder 2">
            <a:extLst>
              <a:ext uri="{FF2B5EF4-FFF2-40B4-BE49-F238E27FC236}">
                <a16:creationId xmlns:a16="http://schemas.microsoft.com/office/drawing/2014/main" id="{A42AB935-851E-B105-E4FD-22EA0FAEEDE6}"/>
              </a:ext>
            </a:extLst>
          </p:cNvPr>
          <p:cNvSpPr>
            <a:spLocks noGrp="1"/>
          </p:cNvSpPr>
          <p:nvPr>
            <p:ph idx="1"/>
          </p:nvPr>
        </p:nvSpPr>
        <p:spPr>
          <a:xfrm>
            <a:off x="838200" y="2002606"/>
            <a:ext cx="10515600" cy="391641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System Stability: The system scales well up to 200 users and responds quickly.</a:t>
            </a:r>
          </a:p>
          <a:p>
            <a:r>
              <a:rPr lang="en-US" dirty="0">
                <a:latin typeface="Calibri" panose="020F0502020204030204" pitchFamily="34" charset="0"/>
                <a:ea typeface="Calibri" panose="020F0502020204030204" pitchFamily="34" charset="0"/>
                <a:cs typeface="Calibri" panose="020F0502020204030204" pitchFamily="34" charset="0"/>
              </a:rPr>
              <a:t>Bottleneck Alert: Monitoring required around 400 users, with performance increases tapering off.</a:t>
            </a:r>
          </a:p>
          <a:p>
            <a:r>
              <a:rPr lang="en-US" dirty="0">
                <a:latin typeface="Calibri" panose="020F0502020204030204" pitchFamily="34" charset="0"/>
                <a:ea typeface="Calibri" panose="020F0502020204030204" pitchFamily="34" charset="0"/>
                <a:cs typeface="Calibri" panose="020F0502020204030204" pitchFamily="34" charset="0"/>
              </a:rPr>
              <a:t>Anomaly at 500 Users: Investigate the unexpected rise in throughput to ensure system reliability.</a:t>
            </a:r>
          </a:p>
          <a:p>
            <a:r>
              <a:rPr lang="en-US" dirty="0">
                <a:latin typeface="Calibri" panose="020F0502020204030204" pitchFamily="34" charset="0"/>
                <a:ea typeface="Calibri" panose="020F0502020204030204" pitchFamily="34" charset="0"/>
                <a:cs typeface="Calibri" panose="020F0502020204030204" pitchFamily="34" charset="0"/>
              </a:rPr>
              <a:t>Error-Free Performance: No errors were reported, indicating system robustness under test conditions.</a:t>
            </a:r>
          </a:p>
          <a:p>
            <a:endParaRPr lang="en-US" dirty="0"/>
          </a:p>
        </p:txBody>
      </p:sp>
    </p:spTree>
    <p:extLst>
      <p:ext uri="{BB962C8B-B14F-4D97-AF65-F5344CB8AC3E}">
        <p14:creationId xmlns:p14="http://schemas.microsoft.com/office/powerpoint/2010/main" val="3739136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62DB-8708-C941-E145-126B33F5BD0D}"/>
              </a:ext>
            </a:extLst>
          </p:cNvPr>
          <p:cNvSpPr>
            <a:spLocks noGrp="1"/>
          </p:cNvSpPr>
          <p:nvPr>
            <p:ph type="title"/>
          </p:nvPr>
        </p:nvSpPr>
        <p:spPr>
          <a:xfrm>
            <a:off x="838200" y="581435"/>
            <a:ext cx="10515600" cy="726256"/>
          </a:xfrm>
        </p:spPr>
        <p:txBody>
          <a:bodyPr/>
          <a:lstStyle/>
          <a:p>
            <a:r>
              <a:rPr lang="en-IN" dirty="0"/>
              <a:t>Challenges</a:t>
            </a:r>
          </a:p>
        </p:txBody>
      </p:sp>
      <p:sp>
        <p:nvSpPr>
          <p:cNvPr id="3" name="Content Placeholder 2">
            <a:extLst>
              <a:ext uri="{FF2B5EF4-FFF2-40B4-BE49-F238E27FC236}">
                <a16:creationId xmlns:a16="http://schemas.microsoft.com/office/drawing/2014/main" id="{14961B24-8486-A724-D423-640FDEB754ED}"/>
              </a:ext>
            </a:extLst>
          </p:cNvPr>
          <p:cNvSpPr>
            <a:spLocks noGrp="1"/>
          </p:cNvSpPr>
          <p:nvPr>
            <p:ph idx="1"/>
          </p:nvPr>
        </p:nvSpPr>
        <p:spPr>
          <a:xfrm>
            <a:off x="978310" y="1769806"/>
            <a:ext cx="9601200" cy="4506759"/>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Network Configuration: We experienced some bottlenecks while combining the web server and database server.</a:t>
            </a: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System Resources: The system experienced resource-related difficulties.</a:t>
            </a: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Developing the correct approach to efficiently perform the category-specific tests proved difficult during the scripting phase.</a:t>
            </a:r>
          </a:p>
          <a:p>
            <a:endParaRPr lang="en-IN" dirty="0"/>
          </a:p>
        </p:txBody>
      </p:sp>
    </p:spTree>
    <p:extLst>
      <p:ext uri="{BB962C8B-B14F-4D97-AF65-F5344CB8AC3E}">
        <p14:creationId xmlns:p14="http://schemas.microsoft.com/office/powerpoint/2010/main" val="776831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62DB-8708-C941-E145-126B33F5BD0D}"/>
              </a:ext>
            </a:extLst>
          </p:cNvPr>
          <p:cNvSpPr>
            <a:spLocks noGrp="1"/>
          </p:cNvSpPr>
          <p:nvPr>
            <p:ph type="title"/>
          </p:nvPr>
        </p:nvSpPr>
        <p:spPr>
          <a:xfrm>
            <a:off x="838200" y="448699"/>
            <a:ext cx="10515600" cy="726256"/>
          </a:xfrm>
        </p:spPr>
        <p:txBody>
          <a:bodyPr/>
          <a:lstStyle/>
          <a:p>
            <a:r>
              <a:rPr lang="en-IN" dirty="0"/>
              <a:t>Conclusion</a:t>
            </a:r>
          </a:p>
        </p:txBody>
      </p:sp>
      <p:sp>
        <p:nvSpPr>
          <p:cNvPr id="3" name="Content Placeholder 2">
            <a:extLst>
              <a:ext uri="{FF2B5EF4-FFF2-40B4-BE49-F238E27FC236}">
                <a16:creationId xmlns:a16="http://schemas.microsoft.com/office/drawing/2014/main" id="{14961B24-8486-A724-D423-640FDEB754ED}"/>
              </a:ext>
            </a:extLst>
          </p:cNvPr>
          <p:cNvSpPr>
            <a:spLocks noGrp="1"/>
          </p:cNvSpPr>
          <p:nvPr>
            <p:ph idx="1"/>
          </p:nvPr>
        </p:nvSpPr>
        <p:spPr>
          <a:xfrm>
            <a:off x="624348" y="1600049"/>
            <a:ext cx="9601200" cy="4082996"/>
          </a:xfrm>
        </p:spPr>
        <p:txBody>
          <a:bodyPr>
            <a:normAutofit/>
          </a:bodyPr>
          <a:lstStyle/>
          <a:p>
            <a:pPr marL="0" indent="0" algn="just">
              <a:buNone/>
            </a:pPr>
            <a:r>
              <a:rPr lang="en-US" dirty="0"/>
              <a:t>The testing phase identified significant areas for improvement, particularly in response times and server capacity. The findings are critical for improving the system's performance and ensuring its reliability during peak loads. These findings will drive future optimization efforts, resulting in a robust and scalable application that meets user expectations. This method has proved useful in identifying system limits and fine-tuning performance to improve user satisfaction.</a:t>
            </a:r>
          </a:p>
          <a:p>
            <a:endParaRPr lang="en-US" dirty="0"/>
          </a:p>
          <a:p>
            <a:endParaRPr lang="en-US" dirty="0"/>
          </a:p>
          <a:p>
            <a:endParaRPr lang="en-US" dirty="0"/>
          </a:p>
          <a:p>
            <a:endParaRPr lang="en-US" dirty="0"/>
          </a:p>
        </p:txBody>
      </p:sp>
      <p:sp>
        <p:nvSpPr>
          <p:cNvPr id="4" name="Title 1">
            <a:extLst>
              <a:ext uri="{FF2B5EF4-FFF2-40B4-BE49-F238E27FC236}">
                <a16:creationId xmlns:a16="http://schemas.microsoft.com/office/drawing/2014/main" id="{21E72B4C-828F-1CE6-FEF8-92A36A23E91F}"/>
              </a:ext>
            </a:extLst>
          </p:cNvPr>
          <p:cNvSpPr txBox="1">
            <a:spLocks/>
          </p:cNvSpPr>
          <p:nvPr/>
        </p:nvSpPr>
        <p:spPr>
          <a:xfrm>
            <a:off x="1371600" y="3534744"/>
            <a:ext cx="9601200" cy="1485900"/>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endParaRPr lang="en-IN" dirty="0"/>
          </a:p>
        </p:txBody>
      </p:sp>
    </p:spTree>
    <p:extLst>
      <p:ext uri="{BB962C8B-B14F-4D97-AF65-F5344CB8AC3E}">
        <p14:creationId xmlns:p14="http://schemas.microsoft.com/office/powerpoint/2010/main" val="1937830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1F8C-8164-7FF4-1F10-CD6B153BB46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98232EB5-136A-8B65-C37D-5DA81CD57162}"/>
              </a:ext>
            </a:extLst>
          </p:cNvPr>
          <p:cNvSpPr>
            <a:spLocks noGrp="1"/>
          </p:cNvSpPr>
          <p:nvPr>
            <p:ph idx="1"/>
          </p:nvPr>
        </p:nvSpPr>
        <p:spPr/>
        <p:txBody>
          <a:bodyPr>
            <a:normAutofit/>
          </a:bodyPr>
          <a:lstStyle/>
          <a:p>
            <a:pPr marL="457200" indent="-457200" algn="l"/>
            <a:r>
              <a:rPr lang="en-US" sz="2000" i="0" dirty="0">
                <a:solidFill>
                  <a:srgbClr val="000000"/>
                </a:solidFill>
                <a:effectLst/>
                <a:latin typeface="Calibri" panose="020F0502020204030204" pitchFamily="34" charset="0"/>
              </a:rPr>
              <a:t>Grogan, G. (2018, February 16). </a:t>
            </a:r>
            <a:r>
              <a:rPr lang="en-US" sz="2000" i="1" dirty="0">
                <a:solidFill>
                  <a:srgbClr val="000000"/>
                </a:solidFill>
                <a:effectLst/>
                <a:latin typeface="Calibri" panose="020F0502020204030204" pitchFamily="34" charset="0"/>
              </a:rPr>
              <a:t>Ultimate Guide to Performance Testing</a:t>
            </a:r>
            <a:r>
              <a:rPr lang="en-US" sz="2000" i="0" dirty="0">
                <a:solidFill>
                  <a:srgbClr val="000000"/>
                </a:solidFill>
                <a:effectLst/>
                <a:latin typeface="Calibri" panose="020F0502020204030204" pitchFamily="34" charset="0"/>
              </a:rPr>
              <a:t>. </a:t>
            </a:r>
            <a:r>
              <a:rPr lang="en-US" sz="2000" i="0" dirty="0" err="1">
                <a:solidFill>
                  <a:srgbClr val="000000"/>
                </a:solidFill>
                <a:effectLst/>
                <a:latin typeface="Calibri" panose="020F0502020204030204" pitchFamily="34" charset="0"/>
              </a:rPr>
              <a:t>Testinghero</a:t>
            </a:r>
            <a:r>
              <a:rPr lang="en-US" sz="2000" i="0" dirty="0">
                <a:solidFill>
                  <a:srgbClr val="000000"/>
                </a:solidFill>
                <a:effectLst/>
                <a:latin typeface="Calibri" panose="020F0502020204030204" pitchFamily="34" charset="0"/>
              </a:rPr>
              <a:t>. </a:t>
            </a:r>
            <a:r>
              <a:rPr lang="en-US" sz="2000" i="0" dirty="0">
                <a:solidFill>
                  <a:srgbClr val="000000"/>
                </a:solidFill>
                <a:effectLst/>
                <a:latin typeface="Calibri" panose="020F0502020204030204" pitchFamily="34" charset="0"/>
                <a:hlinkClick r:id="rId2"/>
              </a:rPr>
              <a:t>https://www.testinghero.com/single-post/ultimate-guide-to-performance-testing</a:t>
            </a:r>
            <a:endParaRPr lang="en-US" sz="2000" i="0" dirty="0">
              <a:solidFill>
                <a:srgbClr val="000000"/>
              </a:solidFill>
              <a:effectLst/>
              <a:latin typeface="Calibri" panose="020F0502020204030204" pitchFamily="34" charset="0"/>
            </a:endParaRPr>
          </a:p>
          <a:p>
            <a:pPr marL="457200" indent="-457200" algn="l"/>
            <a:r>
              <a:rPr lang="en-US" sz="2000" dirty="0" err="1">
                <a:solidFill>
                  <a:srgbClr val="000000"/>
                </a:solidFill>
                <a:latin typeface="Calibri" panose="020F0502020204030204" pitchFamily="34" charset="0"/>
              </a:rPr>
              <a:t>Stackify</a:t>
            </a:r>
            <a:r>
              <a:rPr lang="en-US" sz="2000" dirty="0">
                <a:solidFill>
                  <a:srgbClr val="000000"/>
                </a:solidFill>
                <a:latin typeface="Calibri" panose="020F0502020204030204" pitchFamily="34" charset="0"/>
              </a:rPr>
              <a:t>. (2017, August 31). Performance Testing Types, Steps, Best Practices, and Metrics. </a:t>
            </a:r>
            <a:r>
              <a:rPr lang="en-US" sz="2000" dirty="0" err="1">
                <a:solidFill>
                  <a:srgbClr val="000000"/>
                </a:solidFill>
                <a:latin typeface="Calibri" panose="020F0502020204030204" pitchFamily="34" charset="0"/>
              </a:rPr>
              <a:t>Stackify</a:t>
            </a:r>
            <a:r>
              <a:rPr lang="en-US" sz="2000" dirty="0">
                <a:solidFill>
                  <a:srgbClr val="000000"/>
                </a:solidFill>
                <a:latin typeface="Calibri" panose="020F0502020204030204" pitchFamily="34" charset="0"/>
              </a:rPr>
              <a:t>. </a:t>
            </a:r>
            <a:r>
              <a:rPr lang="en-US" sz="2000">
                <a:solidFill>
                  <a:srgbClr val="000000"/>
                </a:solidFill>
                <a:effectLst/>
                <a:latin typeface="Calibri" panose="020F0502020204030204" pitchFamily="34" charset="0"/>
                <a:hlinkClick r:id="rId3"/>
              </a:rPr>
              <a:t>https</a:t>
            </a:r>
            <a:r>
              <a:rPr lang="en-US" sz="2000" dirty="0">
                <a:solidFill>
                  <a:srgbClr val="000000"/>
                </a:solidFill>
                <a:effectLst/>
                <a:latin typeface="Calibri" panose="020F0502020204030204" pitchFamily="34" charset="0"/>
                <a:hlinkClick r:id="rId3"/>
              </a:rPr>
              <a:t>://stackify.com/ultimate-guide-performance-testing-and-software-testing/</a:t>
            </a:r>
            <a:endParaRPr lang="en-US" sz="2000" dirty="0">
              <a:solidFill>
                <a:srgbClr val="000000"/>
              </a:solidFill>
              <a:effectLst/>
              <a:latin typeface="Calibri" panose="020F0502020204030204" pitchFamily="34" charset="0"/>
            </a:endParaRPr>
          </a:p>
          <a:p>
            <a:pPr marL="457200" indent="-457200" algn="l"/>
            <a:endParaRPr lang="en-US" sz="2000" dirty="0">
              <a:solidFill>
                <a:srgbClr val="000000"/>
              </a:solidFill>
              <a:effectLst/>
              <a:latin typeface="Calibri" panose="020F0502020204030204" pitchFamily="34" charset="0"/>
            </a:endParaRPr>
          </a:p>
          <a:p>
            <a:pPr marL="457200" indent="-457200" algn="l"/>
            <a:endParaRPr lang="en-US" b="0" i="0" dirty="0">
              <a:solidFill>
                <a:srgbClr val="000000"/>
              </a:solidFill>
              <a:effectLst/>
              <a:latin typeface="Calibri" panose="020F0502020204030204" pitchFamily="34" charset="0"/>
            </a:endParaRPr>
          </a:p>
          <a:p>
            <a:endParaRPr lang="en-US" dirty="0">
              <a:highlight>
                <a:srgbClr val="FFFF00"/>
              </a:highlight>
            </a:endParaRPr>
          </a:p>
        </p:txBody>
      </p:sp>
    </p:spTree>
    <p:extLst>
      <p:ext uri="{BB962C8B-B14F-4D97-AF65-F5344CB8AC3E}">
        <p14:creationId xmlns:p14="http://schemas.microsoft.com/office/powerpoint/2010/main" val="282098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TotalTime>
  <Words>1824</Words>
  <Application>Microsoft Office PowerPoint</Application>
  <PresentationFormat>Widescreen</PresentationFormat>
  <Paragraphs>130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SEN 8050 Non-Functional  Testing</vt:lpstr>
      <vt:lpstr>Introduction</vt:lpstr>
      <vt:lpstr>Performance Testing Model</vt:lpstr>
      <vt:lpstr>Load Testing</vt:lpstr>
      <vt:lpstr>PowerPoint Presentation</vt:lpstr>
      <vt:lpstr>Load Testing Result Analysis Continued…</vt:lpstr>
      <vt:lpstr>Stress Testing</vt:lpstr>
      <vt:lpstr>PowerPoint Presentation</vt:lpstr>
      <vt:lpstr>Reliability Testing</vt:lpstr>
      <vt:lpstr>PowerPoint Presentation</vt:lpstr>
      <vt:lpstr>Capacity Testing</vt:lpstr>
      <vt:lpstr>PowerPoint Presentation</vt:lpstr>
      <vt:lpstr>Capacity Testing Result Analysis</vt:lpstr>
      <vt:lpstr>Volume Testing</vt:lpstr>
      <vt:lpstr>Volume Testing Result Analysis</vt:lpstr>
      <vt:lpstr>Scalability Testing</vt:lpstr>
      <vt:lpstr>Scalability Test Result Analysis</vt:lpstr>
      <vt:lpstr>Scalability Test Result Analysis Continued…</vt:lpstr>
      <vt:lpstr>Challenges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 8050 Non-Functional  Testing</dc:title>
  <dc:creator>SHIVANI VARU</dc:creator>
  <cp:lastModifiedBy>@nu @jith</cp:lastModifiedBy>
  <cp:revision>16</cp:revision>
  <dcterms:created xsi:type="dcterms:W3CDTF">2024-04-15T02:24:24Z</dcterms:created>
  <dcterms:modified xsi:type="dcterms:W3CDTF">2024-04-15T17:17:51Z</dcterms:modified>
</cp:coreProperties>
</file>